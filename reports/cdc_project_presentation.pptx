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4.jpeg" ContentType="image/jpeg"/>
  <Override PartName="/ppt/media/image3.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1597680"/>
            <a:ext cx="7772040" cy="11023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6"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16C25B1-2106-4FBD-A354-878680560A92}"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8713CD4-CC78-41BA-90C3-7A451CD13E2B}"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FFE6F8F7-AADB-41A3-9A49-B097E9BD31F2}" type="slidenum">
              <a:t>&lt;#&gt;</a:t>
            </a:fld>
          </a:p>
        </p:txBody>
      </p:sp>
      <p:sp>
        <p:nvSpPr>
          <p:cNvPr id="4" name="PlaceHolder 3"/>
          <p:cNvSpPr>
            <a:spLocks noGrp="1"/>
          </p:cNvSpPr>
          <p:nvPr>
            <p:ph type="dt" idx="7"/>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1597680"/>
            <a:ext cx="7772040" cy="11023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925DD60C-BFAB-42C1-9758-A52AFC6847C2}" type="slidenum">
              <a:t>&lt;#&gt;</a:t>
            </a:fld>
          </a:p>
        </p:txBody>
      </p:sp>
      <p:sp>
        <p:nvSpPr>
          <p:cNvPr id="6" name="PlaceHolder 5"/>
          <p:cNvSpPr>
            <a:spLocks noGrp="1"/>
          </p:cNvSpPr>
          <p:nvPr>
            <p:ph type="dt" idx="10"/>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8BA600A1-0932-4D7E-AFCF-F1A4B52155D9}" type="slidenum">
              <a:t>&lt;#&gt;</a:t>
            </a:fld>
          </a:p>
        </p:txBody>
      </p:sp>
      <p:sp>
        <p:nvSpPr>
          <p:cNvPr id="4" name="PlaceHolder 3"/>
          <p:cNvSpPr>
            <a:spLocks noGrp="1"/>
          </p:cNvSpPr>
          <p:nvPr>
            <p:ph type="dt" idx="1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85800" y="1597680"/>
            <a:ext cx="7772040" cy="11023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AA9CBE9E-8390-4E59-AD3E-AD598CA1CD80}" type="slidenum">
              <a:t>&lt;#&gt;</a:t>
            </a:fld>
          </a:p>
        </p:txBody>
      </p:sp>
      <p:sp>
        <p:nvSpPr>
          <p:cNvPr id="7" name="PlaceHolder 6"/>
          <p:cNvSpPr>
            <a:spLocks noGrp="1"/>
          </p:cNvSpPr>
          <p:nvPr>
            <p:ph type="dt" idx="16"/>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9F45CE2C-ECC6-4DDD-9B40-05F186FB9E72}" type="slidenum">
              <a:t>&lt;#&gt;</a:t>
            </a:fld>
          </a:p>
        </p:txBody>
      </p:sp>
      <p:sp>
        <p:nvSpPr>
          <p:cNvPr id="4" name="PlaceHolder 3"/>
          <p:cNvSpPr>
            <a:spLocks noGrp="1"/>
          </p:cNvSpPr>
          <p:nvPr>
            <p:ph type="dt" idx="19"/>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1597680"/>
            <a:ext cx="7772040" cy="11023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8A56F94-9EFB-4A66-ADF2-EC4C19258959}" type="slidenum">
              <a:t>&lt;#&gt;</a:t>
            </a:fld>
          </a:p>
        </p:txBody>
      </p:sp>
      <p:sp>
        <p:nvSpPr>
          <p:cNvPr id="5" name="PlaceHolder 4"/>
          <p:cNvSpPr>
            <a:spLocks noGrp="1"/>
          </p:cNvSpPr>
          <p:nvPr>
            <p:ph type="dt" idx="22"/>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A3E2AD40-998D-456B-94BF-0E1318DB128A}" type="slidenum">
              <a:t>&lt;#&gt;</a:t>
            </a:fld>
          </a:p>
        </p:txBody>
      </p:sp>
      <p:sp>
        <p:nvSpPr>
          <p:cNvPr id="4" name="PlaceHolder 3"/>
          <p:cNvSpPr>
            <a:spLocks noGrp="1"/>
          </p:cNvSpPr>
          <p:nvPr>
            <p:ph type="dt" idx="25"/>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01F3C6C6-E07B-4D7B-A40D-4D785FB19CCA}" type="slidenum">
              <a:t>&lt;#&gt;</a:t>
            </a:fld>
          </a:p>
        </p:txBody>
      </p:sp>
      <p:sp>
        <p:nvSpPr>
          <p:cNvPr id="4" name="PlaceHolder 3"/>
          <p:cNvSpPr>
            <a:spLocks noGrp="1"/>
          </p:cNvSpPr>
          <p:nvPr>
            <p:ph type="dt" idx="28"/>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E921B45F-BB5F-44CA-855A-E3E35530CC6F}" type="slidenum">
              <a:t>&lt;#&gt;</a:t>
            </a:fld>
          </a:p>
        </p:txBody>
      </p:sp>
      <p:sp>
        <p:nvSpPr>
          <p:cNvPr id="4" name="PlaceHolder 3"/>
          <p:cNvSpPr>
            <a:spLocks noGrp="1"/>
          </p:cNvSpPr>
          <p:nvPr>
            <p:ph type="dt" idx="3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1597680"/>
            <a:ext cx="7772040" cy="110232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2" name="PlaceHolder 3"/>
          <p:cNvSpPr>
            <a:spLocks noGrp="1"/>
          </p:cNvSpPr>
          <p:nvPr>
            <p:ph type="ftr" idx="2"/>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 name="PlaceHolder 4"/>
          <p:cNvSpPr>
            <a:spLocks noGrp="1"/>
          </p:cNvSpPr>
          <p:nvPr>
            <p:ph type="sldNum" idx="3"/>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8528D533-984E-4272-9F0F-93F21265C3E2}"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4" name="PlaceHolder 5"/>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8" name="PlaceHolder 2"/>
          <p:cNvSpPr>
            <a:spLocks noGrp="1"/>
          </p:cNvSpPr>
          <p:nvPr>
            <p:ph type="body"/>
          </p:nvPr>
        </p:nvSpPr>
        <p:spPr>
          <a:xfrm>
            <a:off x="457200" y="1200240"/>
            <a:ext cx="8229240" cy="339408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9" name="PlaceHolder 3"/>
          <p:cNvSpPr>
            <a:spLocks noGrp="1"/>
          </p:cNvSpPr>
          <p:nvPr>
            <p:ph type="dt" idx="4"/>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10" name="PlaceHolder 4"/>
          <p:cNvSpPr>
            <a:spLocks noGrp="1"/>
          </p:cNvSpPr>
          <p:nvPr>
            <p:ph type="ftr" idx="5"/>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1" name="PlaceHolder 5"/>
          <p:cNvSpPr>
            <a:spLocks noGrp="1"/>
          </p:cNvSpPr>
          <p:nvPr>
            <p:ph type="sldNum" idx="6"/>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FD97DE62-43DB-4AE3-87E8-22890F0250E3}"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629400" y="205920"/>
            <a:ext cx="2057040" cy="4388400"/>
          </a:xfrm>
          <a:prstGeom prst="rect">
            <a:avLst/>
          </a:prstGeom>
          <a:noFill/>
          <a:ln w="0">
            <a:noFill/>
          </a:ln>
        </p:spPr>
        <p:txBody>
          <a:bodyPr lIns="91440" rIns="91440" tIns="45720" bIns="45720" anchor="ctr" vert="eaVert">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3" name="PlaceHolder 2"/>
          <p:cNvSpPr>
            <a:spLocks noGrp="1"/>
          </p:cNvSpPr>
          <p:nvPr>
            <p:ph type="body"/>
          </p:nvPr>
        </p:nvSpPr>
        <p:spPr>
          <a:xfrm>
            <a:off x="457200" y="205920"/>
            <a:ext cx="6019560" cy="438840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4" name="PlaceHolder 3"/>
          <p:cNvSpPr>
            <a:spLocks noGrp="1"/>
          </p:cNvSpPr>
          <p:nvPr>
            <p:ph type="dt" idx="7"/>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15" name="PlaceHolder 4"/>
          <p:cNvSpPr>
            <a:spLocks noGrp="1"/>
          </p:cNvSpPr>
          <p:nvPr>
            <p:ph type="ftr" idx="8"/>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6" name="PlaceHolder 5"/>
          <p:cNvSpPr>
            <a:spLocks noGrp="1"/>
          </p:cNvSpPr>
          <p:nvPr>
            <p:ph type="sldNum" idx="9"/>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2EB68F00-CAED-49E1-BA05-FBD7524F9F02}"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8" name="PlaceHolder 2"/>
          <p:cNvSpPr>
            <a:spLocks noGrp="1"/>
          </p:cNvSpPr>
          <p:nvPr>
            <p:ph type="body"/>
          </p:nvPr>
        </p:nvSpPr>
        <p:spPr>
          <a:xfrm>
            <a:off x="457200" y="1200240"/>
            <a:ext cx="8229240" cy="33940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9" name="PlaceHolder 3"/>
          <p:cNvSpPr>
            <a:spLocks noGrp="1"/>
          </p:cNvSpPr>
          <p:nvPr>
            <p:ph type="dt" idx="10"/>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20" name="PlaceHolder 4"/>
          <p:cNvSpPr>
            <a:spLocks noGrp="1"/>
          </p:cNvSpPr>
          <p:nvPr>
            <p:ph type="ftr" idx="11"/>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1" name="PlaceHolder 5"/>
          <p:cNvSpPr>
            <a:spLocks noGrp="1"/>
          </p:cNvSpPr>
          <p:nvPr>
            <p:ph type="sldNum" idx="12"/>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186F92D-9C11-416D-8F91-2C7880D0E855}"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722160" y="3305160"/>
            <a:ext cx="7772040" cy="1021320"/>
          </a:xfrm>
          <a:prstGeom prst="rect">
            <a:avLst/>
          </a:prstGeom>
          <a:noFill/>
          <a:ln w="0">
            <a:noFill/>
          </a:ln>
        </p:spPr>
        <p:txBody>
          <a:bodyPr lIns="91440" rIns="91440" tIns="45720" bIns="45720" anchor="t">
            <a:noAutofit/>
          </a:bodyPr>
          <a:p>
            <a:pPr indent="0" defTabSz="9144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5" name="PlaceHolder 2"/>
          <p:cNvSpPr>
            <a:spLocks noGrp="1"/>
          </p:cNvSpPr>
          <p:nvPr>
            <p:ph type="body"/>
          </p:nvPr>
        </p:nvSpPr>
        <p:spPr>
          <a:xfrm>
            <a:off x="722160" y="2180160"/>
            <a:ext cx="7772040" cy="112464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6" name="PlaceHolder 3"/>
          <p:cNvSpPr>
            <a:spLocks noGrp="1"/>
          </p:cNvSpPr>
          <p:nvPr>
            <p:ph type="dt" idx="13"/>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27" name="PlaceHolder 4"/>
          <p:cNvSpPr>
            <a:spLocks noGrp="1"/>
          </p:cNvSpPr>
          <p:nvPr>
            <p:ph type="ftr" idx="14"/>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8" name="PlaceHolder 5"/>
          <p:cNvSpPr>
            <a:spLocks noGrp="1"/>
          </p:cNvSpPr>
          <p:nvPr>
            <p:ph type="sldNum" idx="15"/>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FBCDEEAA-42E3-40E6-90F3-A0F072B419F0}"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0" name="PlaceHolder 2"/>
          <p:cNvSpPr>
            <a:spLocks noGrp="1"/>
          </p:cNvSpPr>
          <p:nvPr>
            <p:ph type="body"/>
          </p:nvPr>
        </p:nvSpPr>
        <p:spPr>
          <a:xfrm>
            <a:off x="457200" y="1200240"/>
            <a:ext cx="4038120" cy="339408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3"/>
          <p:cNvSpPr>
            <a:spLocks noGrp="1"/>
          </p:cNvSpPr>
          <p:nvPr>
            <p:ph type="body"/>
          </p:nvPr>
        </p:nvSpPr>
        <p:spPr>
          <a:xfrm>
            <a:off x="4648320" y="1200240"/>
            <a:ext cx="4038120" cy="339408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2" name="PlaceHolder 4"/>
          <p:cNvSpPr>
            <a:spLocks noGrp="1"/>
          </p:cNvSpPr>
          <p:nvPr>
            <p:ph type="dt" idx="16"/>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33" name="PlaceHolder 5"/>
          <p:cNvSpPr>
            <a:spLocks noGrp="1"/>
          </p:cNvSpPr>
          <p:nvPr>
            <p:ph type="ftr" idx="17"/>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4" name="PlaceHolder 6"/>
          <p:cNvSpPr>
            <a:spLocks noGrp="1"/>
          </p:cNvSpPr>
          <p:nvPr>
            <p:ph type="sldNum" idx="18"/>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3C4472C1-AD22-4F4F-B44F-411C18B92F21}"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9" name="PlaceHolder 2"/>
          <p:cNvSpPr>
            <a:spLocks noGrp="1"/>
          </p:cNvSpPr>
          <p:nvPr>
            <p:ph type="body"/>
          </p:nvPr>
        </p:nvSpPr>
        <p:spPr>
          <a:xfrm>
            <a:off x="457200" y="1151280"/>
            <a:ext cx="4039920" cy="47952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0" name="PlaceHolder 3"/>
          <p:cNvSpPr>
            <a:spLocks noGrp="1"/>
          </p:cNvSpPr>
          <p:nvPr>
            <p:ph type="body"/>
          </p:nvPr>
        </p:nvSpPr>
        <p:spPr>
          <a:xfrm>
            <a:off x="457200" y="1631160"/>
            <a:ext cx="4039920" cy="296316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1" name="PlaceHolder 4"/>
          <p:cNvSpPr>
            <a:spLocks noGrp="1"/>
          </p:cNvSpPr>
          <p:nvPr>
            <p:ph type="body"/>
          </p:nvPr>
        </p:nvSpPr>
        <p:spPr>
          <a:xfrm>
            <a:off x="4645080" y="1151280"/>
            <a:ext cx="4041360" cy="47952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2" name="PlaceHolder 5"/>
          <p:cNvSpPr>
            <a:spLocks noGrp="1"/>
          </p:cNvSpPr>
          <p:nvPr>
            <p:ph type="body"/>
          </p:nvPr>
        </p:nvSpPr>
        <p:spPr>
          <a:xfrm>
            <a:off x="4645080" y="1631160"/>
            <a:ext cx="4041360" cy="296316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3" name="PlaceHolder 6"/>
          <p:cNvSpPr>
            <a:spLocks noGrp="1"/>
          </p:cNvSpPr>
          <p:nvPr>
            <p:ph type="dt" idx="19"/>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44" name="PlaceHolder 7"/>
          <p:cNvSpPr>
            <a:spLocks noGrp="1"/>
          </p:cNvSpPr>
          <p:nvPr>
            <p:ph type="ftr" idx="20"/>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5" name="PlaceHolder 8"/>
          <p:cNvSpPr>
            <a:spLocks noGrp="1"/>
          </p:cNvSpPr>
          <p:nvPr>
            <p:ph type="sldNum" idx="21"/>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FA7900DC-6037-4D7D-BA62-4050598B01AE}"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7" name="PlaceHolder 2"/>
          <p:cNvSpPr>
            <a:spLocks noGrp="1"/>
          </p:cNvSpPr>
          <p:nvPr>
            <p:ph type="dt" idx="22"/>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48" name="PlaceHolder 3"/>
          <p:cNvSpPr>
            <a:spLocks noGrp="1"/>
          </p:cNvSpPr>
          <p:nvPr>
            <p:ph type="ftr" idx="23"/>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9" name="PlaceHolder 4"/>
          <p:cNvSpPr>
            <a:spLocks noGrp="1"/>
          </p:cNvSpPr>
          <p:nvPr>
            <p:ph type="sldNum" idx="24"/>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589540A4-AA7A-465C-A7DC-B66E940D2E8D}"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52" name="PlaceHolder 2"/>
          <p:cNvSpPr>
            <a:spLocks noGrp="1"/>
          </p:cNvSpPr>
          <p:nvPr>
            <p:ph type="ftr" idx="26"/>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3" name="PlaceHolder 3"/>
          <p:cNvSpPr>
            <a:spLocks noGrp="1"/>
          </p:cNvSpPr>
          <p:nvPr>
            <p:ph type="sldNum" idx="27"/>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FC4D4052-770C-4908-BFB3-B8CC115976B5}"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4840"/>
            <a:ext cx="3007800" cy="87120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5" name="PlaceHolder 2"/>
          <p:cNvSpPr>
            <a:spLocks noGrp="1"/>
          </p:cNvSpPr>
          <p:nvPr>
            <p:ph type="body"/>
          </p:nvPr>
        </p:nvSpPr>
        <p:spPr>
          <a:xfrm>
            <a:off x="3575160" y="204840"/>
            <a:ext cx="5111280" cy="43894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6" name="PlaceHolder 3"/>
          <p:cNvSpPr>
            <a:spLocks noGrp="1"/>
          </p:cNvSpPr>
          <p:nvPr>
            <p:ph type="body"/>
          </p:nvPr>
        </p:nvSpPr>
        <p:spPr>
          <a:xfrm>
            <a:off x="457200" y="1076400"/>
            <a:ext cx="3007800" cy="351792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7" name="PlaceHolder 4"/>
          <p:cNvSpPr>
            <a:spLocks noGrp="1"/>
          </p:cNvSpPr>
          <p:nvPr>
            <p:ph type="dt" idx="28"/>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58" name="PlaceHolder 5"/>
          <p:cNvSpPr>
            <a:spLocks noGrp="1"/>
          </p:cNvSpPr>
          <p:nvPr>
            <p:ph type="ftr" idx="29"/>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9" name="PlaceHolder 6"/>
          <p:cNvSpPr>
            <a:spLocks noGrp="1"/>
          </p:cNvSpPr>
          <p:nvPr>
            <p:ph type="sldNum" idx="30"/>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F5A3F8D8-4C56-468B-BAC4-B3027FC7CC46}"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1792440" y="3600360"/>
            <a:ext cx="5486040" cy="42480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1" name="PlaceHolder 2"/>
          <p:cNvSpPr>
            <a:spLocks noGrp="1"/>
          </p:cNvSpPr>
          <p:nvPr>
            <p:ph type="body"/>
          </p:nvPr>
        </p:nvSpPr>
        <p:spPr>
          <a:xfrm>
            <a:off x="1792440" y="459720"/>
            <a:ext cx="5486040" cy="308592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2" name="PlaceHolder 3"/>
          <p:cNvSpPr>
            <a:spLocks noGrp="1"/>
          </p:cNvSpPr>
          <p:nvPr>
            <p:ph type="body"/>
          </p:nvPr>
        </p:nvSpPr>
        <p:spPr>
          <a:xfrm>
            <a:off x="1792440" y="4025520"/>
            <a:ext cx="5486040" cy="60336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3" name="PlaceHolder 4"/>
          <p:cNvSpPr>
            <a:spLocks noGrp="1"/>
          </p:cNvSpPr>
          <p:nvPr>
            <p:ph type="dt" idx="31"/>
          </p:nvPr>
        </p:nvSpPr>
        <p:spPr>
          <a:xfrm>
            <a:off x="457200" y="4767120"/>
            <a:ext cx="2133360" cy="27360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64" name="PlaceHolder 5"/>
          <p:cNvSpPr>
            <a:spLocks noGrp="1"/>
          </p:cNvSpPr>
          <p:nvPr>
            <p:ph type="ftr" idx="32"/>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5" name="PlaceHolder 6"/>
          <p:cNvSpPr>
            <a:spLocks noGrp="1"/>
          </p:cNvSpPr>
          <p:nvPr>
            <p:ph type="sldNum" idx="33"/>
          </p:nvPr>
        </p:nvSpPr>
        <p:spPr>
          <a:xfrm>
            <a:off x="6553080" y="4767120"/>
            <a:ext cx="2133360" cy="27360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74A7376C-AA15-42C6-9DE1-C123B6FF8BF2}"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TextBox 4"/>
          <p:cNvSpPr/>
          <p:nvPr/>
        </p:nvSpPr>
        <p:spPr>
          <a:xfrm>
            <a:off x="152280" y="1047600"/>
            <a:ext cx="8538840" cy="1001880"/>
          </a:xfrm>
          <a:prstGeom prst="rect">
            <a:avLst/>
          </a:prstGeom>
          <a:noFill/>
          <a:ln w="0">
            <a:noFill/>
          </a:ln>
        </p:spPr>
        <p:style>
          <a:lnRef idx="0"/>
          <a:fillRef idx="0"/>
          <a:effectRef idx="0"/>
          <a:fontRef idx="minor"/>
        </p:style>
        <p:txBody>
          <a:bodyPr lIns="87480" rIns="87480" tIns="43920" bIns="43920" anchor="t">
            <a:spAutoFit/>
          </a:bodyPr>
          <a:p>
            <a:pPr algn="ctr" defTabSz="914400">
              <a:lnSpc>
                <a:spcPct val="100000"/>
              </a:lnSpc>
            </a:pPr>
            <a:r>
              <a:rPr b="1" lang="en-US" sz="2400" spc="-1" strike="noStrike">
                <a:solidFill>
                  <a:schemeClr val="dk1"/>
                </a:solidFill>
                <a:latin typeface="Times New Roman"/>
              </a:rPr>
              <a:t>Department of Electronics and Communication Engineering</a:t>
            </a:r>
            <a:endParaRPr b="0" lang="en-IN" sz="2400" spc="-1" strike="noStrike">
              <a:solidFill>
                <a:srgbClr val="000000"/>
              </a:solidFill>
              <a:latin typeface="Arial"/>
            </a:endParaRPr>
          </a:p>
          <a:p>
            <a:pPr algn="ctr" defTabSz="914400">
              <a:lnSpc>
                <a:spcPct val="100000"/>
              </a:lnSpc>
            </a:pPr>
            <a:r>
              <a:rPr b="1" lang="en-US" sz="2000" spc="-1" strike="noStrike">
                <a:solidFill>
                  <a:srgbClr val="c00000"/>
                </a:solidFill>
                <a:latin typeface="Times New Roman"/>
              </a:rPr>
              <a:t>B.E – ECE ( II Year B Section)</a:t>
            </a:r>
            <a:endParaRPr b="0" lang="en-IN" sz="2000" spc="-1" strike="noStrike">
              <a:solidFill>
                <a:srgbClr val="000000"/>
              </a:solidFill>
              <a:latin typeface="Arial"/>
            </a:endParaRPr>
          </a:p>
          <a:p>
            <a:pPr algn="ctr" defTabSz="914400">
              <a:lnSpc>
                <a:spcPct val="100000"/>
              </a:lnSpc>
            </a:pPr>
            <a:r>
              <a:rPr b="1" lang="en-US" sz="1600" spc="-1" strike="noStrike">
                <a:solidFill>
                  <a:schemeClr val="dk1"/>
                </a:solidFill>
                <a:latin typeface="Times New Roman"/>
              </a:rPr>
              <a:t> </a:t>
            </a:r>
            <a:r>
              <a:rPr b="1" lang="en-US" sz="1600" spc="-1" strike="noStrike">
                <a:solidFill>
                  <a:schemeClr val="dk1"/>
                </a:solidFill>
                <a:latin typeface="Times New Roman"/>
              </a:rPr>
              <a:t>CORE COURSE PROJECT ZEROTH REVIEW -  AY 2025-26 EVEN  SEMESTER</a:t>
            </a:r>
            <a:endParaRPr b="0" lang="en-IN" sz="1600" spc="-1" strike="noStrike">
              <a:solidFill>
                <a:srgbClr val="000000"/>
              </a:solidFill>
              <a:latin typeface="Arial"/>
            </a:endParaRPr>
          </a:p>
        </p:txBody>
      </p:sp>
      <p:graphicFrame>
        <p:nvGraphicFramePr>
          <p:cNvPr id="67" name="Table 8"/>
          <p:cNvGraphicFramePr/>
          <p:nvPr/>
        </p:nvGraphicFramePr>
        <p:xfrm>
          <a:off x="152280" y="3257640"/>
          <a:ext cx="8915040" cy="1714320"/>
        </p:xfrm>
        <a:graphic>
          <a:graphicData uri="http://schemas.openxmlformats.org/drawingml/2006/table">
            <a:tbl>
              <a:tblPr/>
              <a:tblGrid>
                <a:gridCol w="2900160"/>
                <a:gridCol w="1933200"/>
                <a:gridCol w="4081680"/>
              </a:tblGrid>
              <a:tr h="342720">
                <a:tc gridSpan="2">
                  <a:txBody>
                    <a:bodyPr tIns="34200" bIns="34200" anchor="t">
                      <a:noAutofit/>
                    </a:bodyPr>
                    <a:p>
                      <a:pPr algn="ctr" defTabSz="914400">
                        <a:lnSpc>
                          <a:spcPct val="100000"/>
                        </a:lnSpc>
                      </a:pPr>
                      <a:r>
                        <a:rPr b="1" i="1" lang="en-US" sz="1600" spc="-1" strike="noStrike">
                          <a:solidFill>
                            <a:schemeClr val="dk1"/>
                          </a:solidFill>
                          <a:latin typeface="Times New Roman"/>
                        </a:rPr>
                        <a:t>Presented By</a:t>
                      </a:r>
                      <a:endParaRPr b="0" lang="en-IN" sz="1600" spc="-1" strike="noStrike">
                        <a:solidFill>
                          <a:srgbClr val="000000"/>
                        </a:solidFill>
                        <a:latin typeface="Arial"/>
                      </a:endParaRPr>
                    </a:p>
                  </a:txBody>
                  <a:tcPr anchor="t" marL="91440" marR="9144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c hMerge="1">
                  <a:txBody>
                    <a:bodyPr lIns="90000" rIns="90000" tIns="45000" bIns="45000" anchor="t">
                      <a:noAutofit/>
                    </a:bodyPr>
                    <a:p>
                      <a:endParaRPr b="0" lang="en-IN"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tIns="34200" bIns="34200" anchor="t">
                      <a:noAutofit/>
                    </a:bodyPr>
                    <a:p>
                      <a:pPr defTabSz="914400">
                        <a:lnSpc>
                          <a:spcPct val="100000"/>
                        </a:lnSpc>
                      </a:pPr>
                      <a:r>
                        <a:rPr b="1" i="1" lang="en-US" sz="1600" spc="-1" strike="noStrike">
                          <a:solidFill>
                            <a:schemeClr val="dk1"/>
                          </a:solidFill>
                          <a:latin typeface="Times New Roman"/>
                        </a:rPr>
                        <a:t>           </a:t>
                      </a:r>
                      <a:r>
                        <a:rPr b="1" i="1" lang="en-US" sz="1600" spc="-1" strike="noStrike">
                          <a:solidFill>
                            <a:schemeClr val="dk1"/>
                          </a:solidFill>
                          <a:latin typeface="Times New Roman"/>
                        </a:rPr>
                        <a:t>Under the Guidance of</a:t>
                      </a:r>
                      <a:endParaRPr b="0" lang="en-IN" sz="1600" spc="-1" strike="noStrike">
                        <a:solidFill>
                          <a:srgbClr val="000000"/>
                        </a:solidFill>
                        <a:latin typeface="Arial"/>
                      </a:endParaRPr>
                    </a:p>
                  </a:txBody>
                  <a:tcPr anchor="t" marL="91440" marR="9144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r>
              <a:tr h="822960">
                <a:tc rowSpan="2">
                  <a:txBody>
                    <a:bodyPr tIns="34200" bIns="34200" anchor="t">
                      <a:noAutofit/>
                    </a:bodyPr>
                    <a:p>
                      <a:pPr defTabSz="914400">
                        <a:lnSpc>
                          <a:spcPct val="100000"/>
                        </a:lnSpc>
                      </a:pPr>
                      <a:r>
                        <a:rPr b="0" lang="en-US" sz="1400" spc="-1" strike="noStrike">
                          <a:solidFill>
                            <a:schemeClr val="dk1">
                              <a:lumMod val="95000"/>
                              <a:lumOff val="5000"/>
                            </a:schemeClr>
                          </a:solidFill>
                          <a:latin typeface="Times New Roman"/>
                        </a:rPr>
                        <a:t>NAME</a:t>
                      </a:r>
                      <a:endParaRPr b="0" lang="en-IN" sz="1400" spc="-1" strike="noStrike">
                        <a:solidFill>
                          <a:srgbClr val="000000"/>
                        </a:solidFill>
                        <a:latin typeface="Arial"/>
                      </a:endParaRPr>
                    </a:p>
                    <a:p>
                      <a:pPr defTabSz="914400">
                        <a:lnSpc>
                          <a:spcPct val="100000"/>
                        </a:lnSpc>
                      </a:pPr>
                      <a:r>
                        <a:rPr b="0" lang="en-US" sz="1400" spc="-1" strike="noStrike">
                          <a:solidFill>
                            <a:schemeClr val="dk1">
                              <a:lumMod val="95000"/>
                              <a:lumOff val="5000"/>
                            </a:schemeClr>
                          </a:solidFill>
                          <a:latin typeface="Times New Roman"/>
                        </a:rPr>
                        <a:t>MAYURKANTHAN</a:t>
                      </a:r>
                      <a:endParaRPr b="0" lang="en-IN" sz="1400" spc="-1" strike="noStrike">
                        <a:solidFill>
                          <a:srgbClr val="000000"/>
                        </a:solidFill>
                        <a:latin typeface="Arial"/>
                      </a:endParaRPr>
                    </a:p>
                    <a:p>
                      <a:pPr defTabSz="914400">
                        <a:lnSpc>
                          <a:spcPct val="100000"/>
                        </a:lnSpc>
                      </a:pPr>
                      <a:r>
                        <a:rPr b="0" lang="en-US" sz="1400" spc="-1" strike="noStrike">
                          <a:solidFill>
                            <a:schemeClr val="dk1">
                              <a:lumMod val="95000"/>
                              <a:lumOff val="5000"/>
                            </a:schemeClr>
                          </a:solidFill>
                          <a:latin typeface="Times New Roman"/>
                        </a:rPr>
                        <a:t>ILAM BHARATHI M</a:t>
                      </a:r>
                      <a:endParaRPr b="0" lang="en-IN" sz="1400" spc="-1" strike="noStrike">
                        <a:solidFill>
                          <a:srgbClr val="000000"/>
                        </a:solidFill>
                        <a:latin typeface="Arial"/>
                      </a:endParaRPr>
                    </a:p>
                  </a:txBody>
                  <a:tcPr anchor="t" marL="91440" marR="9144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c rowSpan="2">
                  <a:txBody>
                    <a:bodyPr tIns="34200" bIns="34200" anchor="t">
                      <a:noAutofit/>
                    </a:bodyPr>
                    <a:p>
                      <a:pPr defTabSz="914400">
                        <a:lnSpc>
                          <a:spcPct val="100000"/>
                        </a:lnSpc>
                      </a:pPr>
                      <a:r>
                        <a:rPr b="0" lang="en-US" sz="1400" spc="-1" strike="noStrike">
                          <a:solidFill>
                            <a:schemeClr val="dk1">
                              <a:lumMod val="95000"/>
                              <a:lumOff val="5000"/>
                            </a:schemeClr>
                          </a:solidFill>
                          <a:latin typeface="Times New Roman"/>
                        </a:rPr>
                        <a:t>REG NO</a:t>
                      </a:r>
                      <a:endParaRPr b="0" lang="en-IN" sz="1400" spc="-1" strike="noStrike">
                        <a:solidFill>
                          <a:srgbClr val="000000"/>
                        </a:solidFill>
                        <a:latin typeface="Arial"/>
                      </a:endParaRPr>
                    </a:p>
                    <a:p>
                      <a:pPr defTabSz="914400">
                        <a:lnSpc>
                          <a:spcPct val="100000"/>
                        </a:lnSpc>
                      </a:pPr>
                      <a:r>
                        <a:rPr b="0" lang="en-US" sz="1400" spc="-1" strike="noStrike">
                          <a:solidFill>
                            <a:schemeClr val="dk1">
                              <a:lumMod val="95000"/>
                              <a:lumOff val="5000"/>
                            </a:schemeClr>
                          </a:solidFill>
                          <a:latin typeface="Times New Roman"/>
                        </a:rPr>
                        <a:t>24EC0114</a:t>
                      </a:r>
                      <a:endParaRPr b="0" lang="en-IN" sz="1400" spc="-1" strike="noStrike">
                        <a:solidFill>
                          <a:srgbClr val="000000"/>
                        </a:solidFill>
                        <a:latin typeface="Arial"/>
                      </a:endParaRPr>
                    </a:p>
                    <a:p>
                      <a:pPr defTabSz="914400">
                        <a:lnSpc>
                          <a:spcPct val="100000"/>
                        </a:lnSpc>
                      </a:pPr>
                      <a:r>
                        <a:rPr b="0" lang="en-US" sz="1400" spc="-1" strike="noStrike">
                          <a:solidFill>
                            <a:schemeClr val="dk1">
                              <a:lumMod val="95000"/>
                              <a:lumOff val="5000"/>
                            </a:schemeClr>
                          </a:solidFill>
                          <a:latin typeface="Times New Roman"/>
                        </a:rPr>
                        <a:t>24EC0066</a:t>
                      </a:r>
                      <a:endParaRPr b="0" lang="en-IN" sz="1400" spc="-1" strike="noStrike">
                        <a:solidFill>
                          <a:srgbClr val="000000"/>
                        </a:solidFill>
                        <a:latin typeface="Arial"/>
                      </a:endParaRPr>
                    </a:p>
                  </a:txBody>
                  <a:tcPr anchor="t" marL="91440" marR="9144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c>
                  <a:txBody>
                    <a:bodyPr tIns="34200" bIns="34200" anchor="t">
                      <a:noAutofit/>
                    </a:bodyPr>
                    <a:p>
                      <a:pPr algn="ctr" defTabSz="914400">
                        <a:lnSpc>
                          <a:spcPct val="100000"/>
                        </a:lnSpc>
                      </a:pPr>
                      <a:r>
                        <a:rPr b="0" lang="en-US" sz="1400" spc="-1" strike="noStrike">
                          <a:solidFill>
                            <a:schemeClr val="dk1"/>
                          </a:solidFill>
                          <a:latin typeface="Times New Roman"/>
                        </a:rPr>
                        <a:t>DR.S.AATHILAKSHMI.</a:t>
                      </a:r>
                      <a:endParaRPr b="0" lang="en-IN" sz="1400" spc="-1" strike="noStrike">
                        <a:solidFill>
                          <a:srgbClr val="000000"/>
                        </a:solidFill>
                        <a:latin typeface="Arial"/>
                      </a:endParaRPr>
                    </a:p>
                  </a:txBody>
                  <a:tcPr anchor="t" marL="91440" marR="9144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r>
              <a:tr h="548640">
                <a:tc vMerge="1">
                  <a:txBody>
                    <a:bodyPr lIns="90000" rIns="90000" tIns="45000" bIns="45000" anchor="t">
                      <a:noAutofit/>
                    </a:bodyPr>
                    <a:p>
                      <a:endParaRPr b="0" lang="en-IN" sz="1800" spc="-1" strike="noStrike">
                        <a:solidFill>
                          <a:srgbClr val="000000"/>
                        </a:solidFill>
                        <a:latin typeface="Arial"/>
                      </a:endParaRPr>
                    </a:p>
                  </a:txBody>
                  <a:tcPr anchor="t" marL="90000" marR="90000">
                    <a:lnL>
                      <a:noFill/>
                    </a:lnL>
                    <a:lnR>
                      <a:noFill/>
                    </a:lnR>
                    <a:lnT>
                      <a:noFill/>
                    </a:lnT>
                    <a:lnB>
                      <a:noFill/>
                    </a:lnB>
                    <a:solidFill>
                      <a:srgbClr val="729fcf"/>
                    </a:solidFill>
                  </a:tcPr>
                </a:tc>
                <a:tc vMerge="1">
                  <a:txBody>
                    <a:bodyPr lIns="90000" rIns="90000" tIns="45000" bIns="45000" anchor="t">
                      <a:noAutofit/>
                    </a:bodyPr>
                    <a:p>
                      <a:endParaRPr b="0" lang="en-IN"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tIns="34200" bIns="34200" anchor="t">
                      <a:noAutofit/>
                    </a:bodyPr>
                    <a:p>
                      <a:pPr algn="ctr" defTabSz="914400">
                        <a:lnSpc>
                          <a:spcPct val="100000"/>
                        </a:lnSpc>
                      </a:pPr>
                      <a:r>
                        <a:rPr b="0" lang="en-US" sz="1400" spc="-1" strike="noStrike">
                          <a:solidFill>
                            <a:schemeClr val="dk1"/>
                          </a:solidFill>
                          <a:latin typeface="Times New Roman"/>
                        </a:rPr>
                        <a:t>Assistant Professor / </a:t>
                      </a:r>
                      <a:endParaRPr b="0" lang="en-IN" sz="1400" spc="-1" strike="noStrike">
                        <a:solidFill>
                          <a:srgbClr val="000000"/>
                        </a:solidFill>
                        <a:latin typeface="Arial"/>
                      </a:endParaRPr>
                    </a:p>
                    <a:p>
                      <a:pPr algn="ctr" defTabSz="914400">
                        <a:lnSpc>
                          <a:spcPct val="100000"/>
                        </a:lnSpc>
                      </a:pPr>
                      <a:r>
                        <a:rPr b="0" lang="en-US" sz="1400" spc="-1" strike="noStrike">
                          <a:solidFill>
                            <a:schemeClr val="dk1"/>
                          </a:solidFill>
                          <a:latin typeface="Times New Roman"/>
                        </a:rPr>
                        <a:t>ECE Department</a:t>
                      </a:r>
                      <a:endParaRPr b="0" lang="en-IN" sz="1400" spc="-1" strike="noStrike">
                        <a:solidFill>
                          <a:srgbClr val="000000"/>
                        </a:solidFill>
                        <a:latin typeface="Arial"/>
                      </a:endParaRPr>
                    </a:p>
                  </a:txBody>
                  <a:tcPr anchor="t" marL="91440" marR="9144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noFill/>
                  </a:tcPr>
                </a:tc>
              </a:tr>
            </a:tbl>
          </a:graphicData>
        </a:graphic>
      </p:graphicFrame>
      <p:sp>
        <p:nvSpPr>
          <p:cNvPr id="68" name="Frame 10"/>
          <p:cNvSpPr/>
          <p:nvPr/>
        </p:nvSpPr>
        <p:spPr>
          <a:xfrm>
            <a:off x="0" y="0"/>
            <a:ext cx="9143640" cy="5143320"/>
          </a:xfrm>
          <a:prstGeom prst="frame">
            <a:avLst>
              <a:gd name="adj1" fmla="val 1791"/>
            </a:avLst>
          </a:prstGeom>
          <a:solidFill>
            <a:srgbClr val="c0504d"/>
          </a:solidFill>
          <a:ln>
            <a:solidFill>
              <a:srgbClr val="8e3b38"/>
            </a:solidFill>
            <a:round/>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graphicFrame>
        <p:nvGraphicFramePr>
          <p:cNvPr id="69" name="Table 11"/>
          <p:cNvGraphicFramePr/>
          <p:nvPr/>
        </p:nvGraphicFramePr>
        <p:xfrm>
          <a:off x="152280" y="2133720"/>
          <a:ext cx="8838720" cy="1159560"/>
        </p:xfrm>
        <a:graphic>
          <a:graphicData uri="http://schemas.openxmlformats.org/drawingml/2006/table">
            <a:tbl>
              <a:tblPr/>
              <a:tblGrid>
                <a:gridCol w="8839080"/>
              </a:tblGrid>
              <a:tr h="330120">
                <a:tc>
                  <a:txBody>
                    <a:bodyPr anchor="t">
                      <a:noAutofit/>
                    </a:bodyPr>
                    <a:p>
                      <a:pPr algn="ctr" defTabSz="914400">
                        <a:lnSpc>
                          <a:spcPct val="100000"/>
                        </a:lnSpc>
                      </a:pPr>
                      <a:r>
                        <a:rPr b="1" lang="en-US" sz="1800" spc="-1" strike="noStrike">
                          <a:solidFill>
                            <a:schemeClr val="lt1"/>
                          </a:solidFill>
                          <a:latin typeface="Times New Roman"/>
                        </a:rPr>
                        <a:t>MEMS MICROPHONE DIGITISATION</a:t>
                      </a:r>
                      <a:endParaRPr b="0" lang="en-IN" sz="1800" spc="-1" strike="noStrike">
                        <a:solidFill>
                          <a:srgbClr val="000000"/>
                        </a:solidFill>
                        <a:latin typeface="Arial"/>
                      </a:endParaRPr>
                    </a:p>
                  </a:txBody>
                  <a:tcPr anchor="t" marL="91440" marR="91440">
                    <a:lnL w="9360">
                      <a:solidFill>
                        <a:srgbClr val="be4b48"/>
                      </a:solidFill>
                      <a:prstDash val="solid"/>
                    </a:lnL>
                    <a:lnR w="9360">
                      <a:solidFill>
                        <a:srgbClr val="be4b48"/>
                      </a:solidFill>
                      <a:prstDash val="solid"/>
                    </a:lnR>
                    <a:lnT w="9360">
                      <a:solidFill>
                        <a:srgbClr val="be4b48"/>
                      </a:solidFill>
                      <a:prstDash val="solid"/>
                    </a:lnT>
                    <a:lnB>
                      <a:noFill/>
                    </a:lnB>
                    <a:solidFill>
                      <a:srgbClr val="c0504d"/>
                    </a:solidFill>
                  </a:tcPr>
                </a:tc>
              </a:tr>
              <a:tr h="793440">
                <a:tc>
                  <a:txBody>
                    <a:bodyPr anchor="t">
                      <a:noAutofit/>
                    </a:bodyPr>
                    <a:p>
                      <a:pPr defTabSz="914400">
                        <a:lnSpc>
                          <a:spcPct val="100000"/>
                        </a:lnSpc>
                      </a:pPr>
                      <a:r>
                        <a:rPr b="0" lang="en-US" sz="1800" spc="-1" strike="noStrike">
                          <a:solidFill>
                            <a:schemeClr val="dk1"/>
                          </a:solidFill>
                          <a:latin typeface="Times New Roman"/>
                        </a:rPr>
                        <a:t>                   </a:t>
                      </a:r>
                      <a:endParaRPr b="0" lang="en-IN" sz="1800" spc="-1" strike="noStrike">
                        <a:solidFill>
                          <a:srgbClr val="000000"/>
                        </a:solidFill>
                        <a:latin typeface="Arial"/>
                      </a:endParaRPr>
                    </a:p>
                    <a:p>
                      <a:pPr algn="ctr" defTabSz="914400">
                        <a:lnSpc>
                          <a:spcPct val="100000"/>
                        </a:lnSpc>
                      </a:pPr>
                      <a:r>
                        <a:rPr b="0" lang="en-US" sz="1800" spc="-1" strike="noStrike">
                          <a:solidFill>
                            <a:schemeClr val="dk1"/>
                          </a:solidFill>
                          <a:latin typeface="Times New Roman"/>
                        </a:rPr>
                        <a:t>                        </a:t>
                      </a:r>
                      <a:endParaRPr b="0" lang="en-IN" sz="1800" spc="-1" strike="noStrike">
                        <a:solidFill>
                          <a:srgbClr val="000000"/>
                        </a:solidFill>
                        <a:latin typeface="Arial"/>
                      </a:endParaRPr>
                    </a:p>
                  </a:txBody>
                  <a:tcPr anchor="t" marL="91440" marR="91440">
                    <a:lnL w="9360">
                      <a:solidFill>
                        <a:srgbClr val="be4b48"/>
                      </a:solidFill>
                      <a:prstDash val="solid"/>
                    </a:lnL>
                    <a:lnR w="9360">
                      <a:solidFill>
                        <a:srgbClr val="be4b48"/>
                      </a:solidFill>
                      <a:prstDash val="solid"/>
                    </a:lnR>
                    <a:lnT w="9360">
                      <a:solidFill>
                        <a:srgbClr val="be4b48"/>
                      </a:solidFill>
                      <a:prstDash val="solid"/>
                    </a:lnT>
                    <a:lnB w="9360">
                      <a:solidFill>
                        <a:srgbClr val="be4b48"/>
                      </a:solidFill>
                      <a:prstDash val="solid"/>
                    </a:lnB>
                    <a:noFill/>
                  </a:tcPr>
                </a:tc>
              </a:tr>
            </a:tbl>
          </a:graphicData>
        </a:graphic>
      </p:graphicFrame>
      <p:sp>
        <p:nvSpPr>
          <p:cNvPr id="70" name="Frame 15"/>
          <p:cNvSpPr/>
          <p:nvPr/>
        </p:nvSpPr>
        <p:spPr>
          <a:xfrm>
            <a:off x="0" y="0"/>
            <a:ext cx="9143640" cy="1123560"/>
          </a:xfrm>
          <a:prstGeom prst="frame">
            <a:avLst>
              <a:gd name="adj1" fmla="val 6750"/>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71" name="Picture 1" descr=""/>
          <p:cNvPicPr/>
          <p:nvPr/>
        </p:nvPicPr>
        <p:blipFill>
          <a:blip r:embed="rId1"/>
          <a:stretch/>
        </p:blipFill>
        <p:spPr>
          <a:xfrm>
            <a:off x="104760" y="233640"/>
            <a:ext cx="8886600" cy="9658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72" name="Content Placeholder 15"/>
          <p:cNvGraphicFramePr/>
          <p:nvPr/>
        </p:nvGraphicFramePr>
        <p:xfrm>
          <a:off x="1143000" y="0"/>
          <a:ext cx="8000640" cy="854640"/>
        </p:xfrm>
        <a:graphic>
          <a:graphicData uri="http://schemas.openxmlformats.org/drawingml/2006/table">
            <a:tbl>
              <a:tblPr/>
              <a:tblGrid>
                <a:gridCol w="8001000"/>
              </a:tblGrid>
              <a:tr h="437760">
                <a:tc>
                  <a:txBody>
                    <a:bodyPr lIns="94320" rIns="94320" anchor="t">
                      <a:noAutofit/>
                    </a:bodyPr>
                    <a:p>
                      <a:pPr algn="ctr" defTabSz="1045080">
                        <a:lnSpc>
                          <a:spcPct val="100000"/>
                        </a:lnSpc>
                        <a:tabLst>
                          <a:tab algn="l" pos="0"/>
                        </a:tabLst>
                      </a:pPr>
                      <a:r>
                        <a:rPr b="1" lang="en-US" sz="1600" spc="-1" strike="noStrike">
                          <a:solidFill>
                            <a:schemeClr val="dk1"/>
                          </a:solidFill>
                          <a:latin typeface="Cambria"/>
                          <a:ea typeface="Cambria"/>
                        </a:rPr>
                        <a:t>CONTENTS</a:t>
                      </a:r>
                      <a:endParaRPr b="0" lang="en-IN" sz="1600" spc="-1" strike="noStrike">
                        <a:solidFill>
                          <a:srgbClr val="000000"/>
                        </a:solidFill>
                        <a:latin typeface="Arial"/>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r>
              <a:tr h="416880">
                <a:tc>
                  <a:txBody>
                    <a:bodyPr lIns="94320" rIns="94320" anchor="t">
                      <a:noAutofit/>
                    </a:bodyPr>
                    <a:p>
                      <a:endParaRPr b="0" lang="en-US" sz="1800" spc="-1" strike="noStrike">
                        <a:solidFill>
                          <a:schemeClr val="dk1"/>
                        </a:solidFill>
                        <a:latin typeface="Calibri"/>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r>
            </a:tbl>
          </a:graphicData>
        </a:graphic>
      </p:graphicFrame>
      <p:sp>
        <p:nvSpPr>
          <p:cNvPr id="73" name="Frame 4"/>
          <p:cNvSpPr/>
          <p:nvPr/>
        </p:nvSpPr>
        <p:spPr>
          <a:xfrm>
            <a:off x="0" y="0"/>
            <a:ext cx="9143640" cy="5143320"/>
          </a:xfrm>
          <a:prstGeom prst="frame">
            <a:avLst>
              <a:gd name="adj1" fmla="val 1148"/>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graphicFrame>
        <p:nvGraphicFramePr>
          <p:cNvPr id="74" name="Table 5"/>
          <p:cNvGraphicFramePr/>
          <p:nvPr/>
        </p:nvGraphicFramePr>
        <p:xfrm>
          <a:off x="66600" y="478152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 </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193F9D81-DCEB-4F85-9550-4FDEE7DA2877}"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sp>
        <p:nvSpPr>
          <p:cNvPr id="75" name="Frame 10"/>
          <p:cNvSpPr/>
          <p:nvPr/>
        </p:nvSpPr>
        <p:spPr>
          <a:xfrm>
            <a:off x="0" y="0"/>
            <a:ext cx="1142640" cy="81864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76" name="PlaceHolder 1"/>
          <p:cNvSpPr>
            <a:spLocks noGrp="1"/>
          </p:cNvSpPr>
          <p:nvPr>
            <p:ph/>
          </p:nvPr>
        </p:nvSpPr>
        <p:spPr>
          <a:xfrm>
            <a:off x="457200" y="1200240"/>
            <a:ext cx="8534160" cy="3394080"/>
          </a:xfrm>
          <a:prstGeom prst="rect">
            <a:avLst/>
          </a:prstGeom>
          <a:noFill/>
          <a:ln w="0">
            <a:noFill/>
          </a:ln>
        </p:spPr>
        <p:txBody>
          <a:bodyPr lIns="91440" rIns="91440" tIns="45720" bIns="45720" anchor="t">
            <a:normAutofit/>
          </a:bodyPr>
          <a:p>
            <a:pPr marL="343080" indent="-343080" algn="just" defTabSz="914400">
              <a:lnSpc>
                <a:spcPct val="100000"/>
              </a:lnSpc>
              <a:spcBef>
                <a:spcPts val="479"/>
              </a:spcBef>
              <a:spcAft>
                <a:spcPts val="479"/>
              </a:spcAft>
              <a:buClr>
                <a:srgbClr val="000000"/>
              </a:buClr>
              <a:buFont typeface="Arial"/>
              <a:buChar char="•"/>
            </a:pPr>
            <a:r>
              <a:rPr b="1" lang="en-US" sz="1600" spc="-1" strike="noStrike">
                <a:solidFill>
                  <a:schemeClr val="dk1"/>
                </a:solidFill>
                <a:latin typeface="Times New Roman"/>
              </a:rPr>
              <a:t>INTRODUCTION</a:t>
            </a:r>
            <a:endParaRPr b="0" lang="en-US" sz="1600" spc="-1" strike="noStrike">
              <a:solidFill>
                <a:schemeClr val="dk1"/>
              </a:solidFill>
              <a:latin typeface="Calibri"/>
            </a:endParaRPr>
          </a:p>
          <a:p>
            <a:pPr marL="343080" indent="-343080" algn="just" defTabSz="914400">
              <a:lnSpc>
                <a:spcPct val="100000"/>
              </a:lnSpc>
              <a:spcBef>
                <a:spcPts val="479"/>
              </a:spcBef>
              <a:spcAft>
                <a:spcPts val="479"/>
              </a:spcAft>
              <a:buClr>
                <a:srgbClr val="000000"/>
              </a:buClr>
              <a:buFont typeface="Arial"/>
              <a:buChar char="•"/>
            </a:pPr>
            <a:r>
              <a:rPr b="1" lang="en-US" sz="1600" spc="-1" strike="noStrike">
                <a:solidFill>
                  <a:schemeClr val="dk1"/>
                </a:solidFill>
                <a:latin typeface="Times New Roman"/>
              </a:rPr>
              <a:t>LITERATURE SURVEY</a:t>
            </a:r>
            <a:endParaRPr b="0" lang="en-US" sz="1600" spc="-1" strike="noStrike">
              <a:solidFill>
                <a:schemeClr val="dk1"/>
              </a:solidFill>
              <a:latin typeface="Calibri"/>
            </a:endParaRPr>
          </a:p>
          <a:p>
            <a:pPr marL="343080" indent="-343080" algn="just" defTabSz="914400">
              <a:lnSpc>
                <a:spcPct val="100000"/>
              </a:lnSpc>
              <a:spcBef>
                <a:spcPts val="479"/>
              </a:spcBef>
              <a:spcAft>
                <a:spcPts val="479"/>
              </a:spcAft>
              <a:buClr>
                <a:srgbClr val="000000"/>
              </a:buClr>
              <a:buFont typeface="Arial"/>
              <a:buChar char="•"/>
            </a:pPr>
            <a:r>
              <a:rPr b="1" lang="en-US" sz="1600" spc="-1" strike="noStrike">
                <a:solidFill>
                  <a:schemeClr val="dk1"/>
                </a:solidFill>
                <a:latin typeface="Times New Roman"/>
              </a:rPr>
              <a:t>PROBLEM IDENTIFICATION &amp; OBJECTIVES</a:t>
            </a:r>
            <a:endParaRPr b="0" lang="en-US" sz="1600" spc="-1" strike="noStrike">
              <a:solidFill>
                <a:schemeClr val="dk1"/>
              </a:solidFill>
              <a:latin typeface="Calibri"/>
            </a:endParaRPr>
          </a:p>
          <a:p>
            <a:pPr marL="343080" indent="-343080" algn="just" defTabSz="914400">
              <a:lnSpc>
                <a:spcPct val="100000"/>
              </a:lnSpc>
              <a:spcBef>
                <a:spcPts val="479"/>
              </a:spcBef>
              <a:spcAft>
                <a:spcPts val="479"/>
              </a:spcAft>
              <a:buClr>
                <a:srgbClr val="000000"/>
              </a:buClr>
              <a:buFont typeface="Arial"/>
              <a:buChar char="•"/>
            </a:pPr>
            <a:r>
              <a:rPr b="1" lang="en-US" sz="1600" spc="-1" strike="noStrike">
                <a:solidFill>
                  <a:schemeClr val="dk1"/>
                </a:solidFill>
                <a:latin typeface="Times New Roman"/>
              </a:rPr>
              <a:t>PROPOSED SYSTEM MODEL</a:t>
            </a:r>
            <a:endParaRPr b="0" lang="en-US" sz="1600" spc="-1" strike="noStrike">
              <a:solidFill>
                <a:schemeClr val="dk1"/>
              </a:solidFill>
              <a:latin typeface="Calibri"/>
            </a:endParaRPr>
          </a:p>
          <a:p>
            <a:pPr marL="343080" indent="-343080" algn="just" defTabSz="914400">
              <a:lnSpc>
                <a:spcPct val="100000"/>
              </a:lnSpc>
              <a:spcBef>
                <a:spcPts val="479"/>
              </a:spcBef>
              <a:spcAft>
                <a:spcPts val="479"/>
              </a:spcAft>
              <a:buClr>
                <a:srgbClr val="000000"/>
              </a:buClr>
              <a:buFont typeface="Arial"/>
              <a:buChar char="•"/>
            </a:pPr>
            <a:r>
              <a:rPr b="1" lang="en-US" sz="1600" spc="-1" strike="noStrike">
                <a:solidFill>
                  <a:schemeClr val="dk1"/>
                </a:solidFill>
                <a:latin typeface="Times New Roman"/>
              </a:rPr>
              <a:t>SOFTWARE TOOLS</a:t>
            </a:r>
            <a:endParaRPr b="0" lang="en-US" sz="1600" spc="-1" strike="noStrike">
              <a:solidFill>
                <a:schemeClr val="dk1"/>
              </a:solidFill>
              <a:latin typeface="Calibri"/>
            </a:endParaRPr>
          </a:p>
          <a:p>
            <a:pPr marL="343080" indent="-343080" algn="just" defTabSz="914400">
              <a:lnSpc>
                <a:spcPct val="100000"/>
              </a:lnSpc>
              <a:spcBef>
                <a:spcPts val="479"/>
              </a:spcBef>
              <a:spcAft>
                <a:spcPts val="479"/>
              </a:spcAft>
              <a:buClr>
                <a:srgbClr val="000000"/>
              </a:buClr>
              <a:buFont typeface="Arial"/>
              <a:buChar char="•"/>
            </a:pPr>
            <a:r>
              <a:rPr b="1" lang="en-US" sz="1600" spc="-1" strike="noStrike">
                <a:solidFill>
                  <a:schemeClr val="dk1"/>
                </a:solidFill>
                <a:latin typeface="Times New Roman"/>
              </a:rPr>
              <a:t>CONCLUSION</a:t>
            </a:r>
            <a:endParaRPr b="0" lang="en-US" sz="1600" spc="-1" strike="noStrike">
              <a:solidFill>
                <a:schemeClr val="dk1"/>
              </a:solidFill>
              <a:latin typeface="Calibri"/>
            </a:endParaRPr>
          </a:p>
          <a:p>
            <a:pPr indent="0" algn="just" defTabSz="914400">
              <a:lnSpc>
                <a:spcPct val="100000"/>
              </a:lnSpc>
              <a:spcBef>
                <a:spcPts val="479"/>
              </a:spcBef>
              <a:spcAft>
                <a:spcPts val="479"/>
              </a:spcAft>
              <a:buNone/>
            </a:pPr>
            <a:endParaRPr b="0" lang="en-US" sz="1600" spc="-1" strike="noStrike">
              <a:solidFill>
                <a:schemeClr val="dk1"/>
              </a:solidFill>
              <a:latin typeface="Calibri"/>
            </a:endParaRPr>
          </a:p>
        </p:txBody>
      </p:sp>
      <p:sp>
        <p:nvSpPr>
          <p:cNvPr id="77" name="Frame 8"/>
          <p:cNvSpPr/>
          <p:nvPr/>
        </p:nvSpPr>
        <p:spPr>
          <a:xfrm>
            <a:off x="1143000" y="0"/>
            <a:ext cx="8000640" cy="81864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78" name="Picture 2" descr=""/>
          <p:cNvPicPr/>
          <p:nvPr/>
        </p:nvPicPr>
        <p:blipFill>
          <a:blip r:embed="rId1"/>
          <a:stretch/>
        </p:blipFill>
        <p:spPr>
          <a:xfrm>
            <a:off x="76320" y="83520"/>
            <a:ext cx="971280" cy="685440"/>
          </a:xfrm>
          <a:prstGeom prst="rect">
            <a:avLst/>
          </a:prstGeom>
          <a:ln w="9525">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79" name="Content Placeholder 15"/>
          <p:cNvGraphicFramePr/>
          <p:nvPr/>
        </p:nvGraphicFramePr>
        <p:xfrm>
          <a:off x="1143000" y="0"/>
          <a:ext cx="8000640" cy="894960"/>
        </p:xfrm>
        <a:graphic>
          <a:graphicData uri="http://schemas.openxmlformats.org/drawingml/2006/table">
            <a:tbl>
              <a:tblPr/>
              <a:tblGrid>
                <a:gridCol w="8001000"/>
              </a:tblGrid>
              <a:tr h="458280">
                <a:tc>
                  <a:txBody>
                    <a:bodyPr lIns="94320" rIns="94320" anchor="t">
                      <a:noAutofit/>
                    </a:bodyPr>
                    <a:p>
                      <a:endParaRPr b="1" lang="en-US" sz="1400" spc="-1" strike="noStrike">
                        <a:solidFill>
                          <a:schemeClr val="dk1"/>
                        </a:solidFill>
                        <a:latin typeface="Calibri"/>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r>
              <a:tr h="436680">
                <a:tc>
                  <a:txBody>
                    <a:bodyPr lIns="94320" rIns="94320" anchor="t">
                      <a:noAutofit/>
                    </a:bodyPr>
                    <a:p>
                      <a:pPr algn="ctr" defTabSz="914400">
                        <a:lnSpc>
                          <a:spcPct val="100000"/>
                        </a:lnSpc>
                      </a:pPr>
                      <a:r>
                        <a:rPr b="1" lang="en-US" sz="1800" spc="-1" strike="noStrike">
                          <a:solidFill>
                            <a:schemeClr val="dk1"/>
                          </a:solidFill>
                          <a:latin typeface="Calibri"/>
                        </a:rPr>
                        <a:t>INTRODUCTION</a:t>
                      </a:r>
                      <a:endParaRPr b="0" lang="en-IN" sz="1800" spc="-1" strike="noStrike">
                        <a:solidFill>
                          <a:srgbClr val="000000"/>
                        </a:solidFill>
                        <a:latin typeface="Arial"/>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r>
            </a:tbl>
          </a:graphicData>
        </a:graphic>
      </p:graphicFrame>
      <p:sp>
        <p:nvSpPr>
          <p:cNvPr id="80" name="Frame 4"/>
          <p:cNvSpPr/>
          <p:nvPr/>
        </p:nvSpPr>
        <p:spPr>
          <a:xfrm>
            <a:off x="0" y="0"/>
            <a:ext cx="9143640" cy="5143320"/>
          </a:xfrm>
          <a:prstGeom prst="frame">
            <a:avLst>
              <a:gd name="adj1" fmla="val 1148"/>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81" name="Frame 10"/>
          <p:cNvSpPr/>
          <p:nvPr/>
        </p:nvSpPr>
        <p:spPr>
          <a:xfrm>
            <a:off x="0" y="0"/>
            <a:ext cx="1142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82" name="Frame 9"/>
          <p:cNvSpPr/>
          <p:nvPr/>
        </p:nvSpPr>
        <p:spPr>
          <a:xfrm>
            <a:off x="1143000" y="0"/>
            <a:ext cx="8000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83" name="Picture 2" descr=""/>
          <p:cNvPicPr/>
          <p:nvPr/>
        </p:nvPicPr>
        <p:blipFill>
          <a:blip r:embed="rId1"/>
          <a:stretch/>
        </p:blipFill>
        <p:spPr>
          <a:xfrm>
            <a:off x="152280" y="133200"/>
            <a:ext cx="971280" cy="685440"/>
          </a:xfrm>
          <a:prstGeom prst="rect">
            <a:avLst/>
          </a:prstGeom>
          <a:ln w="9525">
            <a:noFill/>
          </a:ln>
        </p:spPr>
      </p:pic>
      <p:graphicFrame>
        <p:nvGraphicFramePr>
          <p:cNvPr id="84" name="Table 5"/>
          <p:cNvGraphicFramePr/>
          <p:nvPr/>
        </p:nvGraphicFramePr>
        <p:xfrm>
          <a:off x="66600" y="478152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D5F6636C-A1DB-45E2-B318-D56673B09DE4}"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sp>
        <p:nvSpPr>
          <p:cNvPr id="85" name="TextBox 2"/>
          <p:cNvSpPr/>
          <p:nvPr/>
        </p:nvSpPr>
        <p:spPr>
          <a:xfrm>
            <a:off x="66600" y="971640"/>
            <a:ext cx="8991360" cy="3381480"/>
          </a:xfrm>
          <a:prstGeom prst="rect">
            <a:avLst/>
          </a:prstGeom>
          <a:noFill/>
          <a:ln w="0">
            <a:noFill/>
          </a:ln>
        </p:spPr>
        <p:style>
          <a:lnRef idx="0"/>
          <a:fillRef idx="0"/>
          <a:effectRef idx="0"/>
          <a:fontRef idx="minor"/>
        </p:style>
        <p:txBody>
          <a:bodyPr lIns="90000" rIns="90000" tIns="45000" bIns="45000" anchor="t">
            <a:spAutoFit/>
          </a:bodyPr>
          <a:p>
            <a:pPr marL="285840" indent="-285840" algn="just" defTabSz="914400">
              <a:lnSpc>
                <a:spcPct val="100000"/>
              </a:lnSpc>
              <a:buClr>
                <a:srgbClr val="000000"/>
              </a:buClr>
              <a:buFont typeface="Arial"/>
              <a:buChar char="•"/>
            </a:pPr>
            <a:r>
              <a:rPr b="0" lang="en-IN" sz="1800" spc="-1" strike="noStrike">
                <a:solidFill>
                  <a:schemeClr val="dk1"/>
                </a:solidFill>
                <a:latin typeface="Calibri"/>
              </a:rPr>
              <a:t>MEMS capacitive microphones are widely used in smartphones, smart speakers, wearables, hearing aids, and voice-controlled IoT devices. Acoustic pressure causes diaphragm displacement in these microphones, resulting in capacitance variations that must be accurately converted into digital signals for audio processing. Conventional microphone readout circuits operate on a constant-charge principle, requiring high-voltage sensor biasing, charge pumps, and voltage-domain signal processing, which increase power consumption, silicon area, noise susceptibility, and limit scalability for always-on applications. To overcome these limitations, this project proposes a time-encoded capacitance-to-digital converter (CDC) based on a switched-capacitor feedback oscillator, which directly converts microphone capacitance variations into digital form without sensor biasing or intermediate voltage conversion, enabling a low-power, compact, and CMOS-scalable microphone-to-digital interface.</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6" name="Content Placeholder 15"/>
          <p:cNvGraphicFramePr/>
          <p:nvPr/>
        </p:nvGraphicFramePr>
        <p:xfrm>
          <a:off x="1143000" y="0"/>
          <a:ext cx="8000640" cy="1047240"/>
        </p:xfrm>
        <a:graphic>
          <a:graphicData uri="http://schemas.openxmlformats.org/drawingml/2006/table">
            <a:tbl>
              <a:tblPr/>
              <a:tblGrid>
                <a:gridCol w="8001000"/>
              </a:tblGrid>
              <a:tr h="536400">
                <a:tc>
                  <a:txBody>
                    <a:bodyPr lIns="94320" rIns="94320" anchor="t">
                      <a:noAutofit/>
                    </a:bodyPr>
                    <a:p>
                      <a:endParaRPr b="1" lang="en-US" sz="1600" spc="-1" strike="noStrike">
                        <a:solidFill>
                          <a:schemeClr val="lt1"/>
                        </a:solidFill>
                        <a:latin typeface="Times New Roman"/>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r>
              <a:tr h="510840">
                <a:tc>
                  <a:txBody>
                    <a:bodyPr lIns="94320" rIns="94320" anchor="t">
                      <a:noAutofit/>
                    </a:bodyPr>
                    <a:p>
                      <a:pPr algn="ctr" defTabSz="914400">
                        <a:lnSpc>
                          <a:spcPct val="100000"/>
                        </a:lnSpc>
                      </a:pPr>
                      <a:r>
                        <a:rPr b="1" lang="en-US" sz="1800" spc="-1" strike="noStrike">
                          <a:solidFill>
                            <a:schemeClr val="dk1"/>
                          </a:solidFill>
                          <a:latin typeface="Calibri"/>
                        </a:rPr>
                        <a:t>LITERATURE SURVEY</a:t>
                      </a:r>
                      <a:endParaRPr b="0" lang="en-IN" sz="1800" spc="-1" strike="noStrike">
                        <a:solidFill>
                          <a:srgbClr val="000000"/>
                        </a:solidFill>
                        <a:latin typeface="Arial"/>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r>
            </a:tbl>
          </a:graphicData>
        </a:graphic>
      </p:graphicFrame>
      <p:sp>
        <p:nvSpPr>
          <p:cNvPr id="87" name="Frame 4"/>
          <p:cNvSpPr/>
          <p:nvPr/>
        </p:nvSpPr>
        <p:spPr>
          <a:xfrm>
            <a:off x="0" y="0"/>
            <a:ext cx="9143640" cy="5143320"/>
          </a:xfrm>
          <a:prstGeom prst="frame">
            <a:avLst>
              <a:gd name="adj1" fmla="val 1148"/>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88" name="Frame 10"/>
          <p:cNvSpPr/>
          <p:nvPr/>
        </p:nvSpPr>
        <p:spPr>
          <a:xfrm>
            <a:off x="0" y="0"/>
            <a:ext cx="1142640" cy="102852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89" name="PlaceHolder 1"/>
          <p:cNvSpPr>
            <a:spLocks noGrp="1"/>
          </p:cNvSpPr>
          <p:nvPr>
            <p:ph/>
          </p:nvPr>
        </p:nvSpPr>
        <p:spPr>
          <a:xfrm>
            <a:off x="457200" y="1200240"/>
            <a:ext cx="8229240" cy="3394080"/>
          </a:xfrm>
          <a:prstGeom prst="rect">
            <a:avLst/>
          </a:prstGeom>
          <a:noFill/>
          <a:ln w="0">
            <a:noFill/>
          </a:ln>
        </p:spPr>
        <p:txBody>
          <a:bodyPr lIns="91440" rIns="91440" tIns="45720" bIns="45720" anchor="t">
            <a:noAutofit/>
          </a:bodyPr>
          <a:p>
            <a:pPr indent="0" algn="just" defTabSz="914400">
              <a:lnSpc>
                <a:spcPct val="100000"/>
              </a:lnSpc>
              <a:spcBef>
                <a:spcPts val="479"/>
              </a:spcBef>
              <a:buNone/>
            </a:pPr>
            <a:endParaRPr b="0" lang="en-US" sz="2400" spc="-1" strike="noStrike">
              <a:solidFill>
                <a:schemeClr val="dk1"/>
              </a:solidFill>
              <a:latin typeface="Calibri"/>
            </a:endParaRPr>
          </a:p>
          <a:p>
            <a:pPr indent="0" algn="just" defTabSz="914400">
              <a:lnSpc>
                <a:spcPct val="100000"/>
              </a:lnSpc>
              <a:spcBef>
                <a:spcPts val="479"/>
              </a:spcBef>
              <a:buNone/>
            </a:pPr>
            <a:endParaRPr b="0" lang="en-US" sz="2400" spc="-1" strike="noStrike">
              <a:solidFill>
                <a:schemeClr val="dk1"/>
              </a:solidFill>
              <a:latin typeface="Calibri"/>
            </a:endParaRPr>
          </a:p>
          <a:p>
            <a:pPr indent="0" algn="just" defTabSz="914400">
              <a:lnSpc>
                <a:spcPct val="100000"/>
              </a:lnSpc>
              <a:spcBef>
                <a:spcPts val="479"/>
              </a:spcBef>
              <a:buNone/>
            </a:pPr>
            <a:endParaRPr b="0" lang="en-US" sz="2400" spc="-1" strike="noStrike">
              <a:solidFill>
                <a:schemeClr val="dk1"/>
              </a:solidFill>
              <a:latin typeface="Calibri"/>
            </a:endParaRPr>
          </a:p>
        </p:txBody>
      </p:sp>
      <p:sp>
        <p:nvSpPr>
          <p:cNvPr id="90" name="Frame 9"/>
          <p:cNvSpPr/>
          <p:nvPr/>
        </p:nvSpPr>
        <p:spPr>
          <a:xfrm>
            <a:off x="1143000" y="0"/>
            <a:ext cx="8000640" cy="104724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91" name="Picture 2" descr=""/>
          <p:cNvPicPr/>
          <p:nvPr/>
        </p:nvPicPr>
        <p:blipFill>
          <a:blip r:embed="rId1"/>
          <a:stretch/>
        </p:blipFill>
        <p:spPr>
          <a:xfrm>
            <a:off x="152280" y="133200"/>
            <a:ext cx="971280" cy="685440"/>
          </a:xfrm>
          <a:prstGeom prst="rect">
            <a:avLst/>
          </a:prstGeom>
          <a:ln w="9525">
            <a:noFill/>
          </a:ln>
        </p:spPr>
      </p:pic>
      <p:graphicFrame>
        <p:nvGraphicFramePr>
          <p:cNvPr id="92" name="Table 5"/>
          <p:cNvGraphicFramePr/>
          <p:nvPr/>
        </p:nvGraphicFramePr>
        <p:xfrm>
          <a:off x="66600" y="478152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C3BCDC4E-88B2-48F9-AFC5-841645041675}"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sp>
        <p:nvSpPr>
          <p:cNvPr id="93" name="TextBox 2"/>
          <p:cNvSpPr/>
          <p:nvPr/>
        </p:nvSpPr>
        <p:spPr>
          <a:xfrm>
            <a:off x="89280" y="1150560"/>
            <a:ext cx="8968320" cy="338148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Arial"/>
              <a:buChar char="•"/>
            </a:pPr>
            <a:r>
              <a:rPr b="1" lang="en-IN" sz="1800" spc="-1" strike="noStrike">
                <a:solidFill>
                  <a:schemeClr val="dk1"/>
                </a:solidFill>
                <a:latin typeface="Calibri"/>
              </a:rPr>
              <a:t>Several capacitance-to-digital conversion techniques have been reported in the literature for MEMS sensor readout:</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US" sz="1800" spc="-1" strike="noStrike">
                <a:solidFill>
                  <a:schemeClr val="dk1"/>
                </a:solidFill>
                <a:latin typeface="Calibri"/>
              </a:rPr>
              <a:t>SAR-Based CDCs offer good energy efficiency but suffer from limited resolution and linearity due to capacitor mismatch and calibration requirements.</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US" sz="1800" spc="-1" strike="noStrike">
                <a:solidFill>
                  <a:schemeClr val="dk1"/>
                </a:solidFill>
                <a:latin typeface="Calibri"/>
              </a:rPr>
              <a:t>Sigma-Delta (ΣΔ) CDCs provide high resolution and excellent noise shaping but require complex analog blocks such as integrators and amplifiers, resulting in high power consumption and large silicon area.</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US" sz="1800" spc="-1" strike="noStrike">
                <a:solidFill>
                  <a:schemeClr val="dk1"/>
                </a:solidFill>
                <a:latin typeface="Calibri"/>
              </a:rPr>
              <a:t>Zoom and Incremental CDCs combine SAR and ΣΔ techniques but involve multi-bit DACs and complex control logic, increasing design complexity</a:t>
            </a:r>
            <a:endParaRPr b="0" lang="en-IN" sz="1800" spc="-1" strike="noStrike">
              <a:solidFill>
                <a:srgbClr val="000000"/>
              </a:solidFill>
              <a:latin typeface="Arial"/>
            </a:endParaRPr>
          </a:p>
          <a:p>
            <a:pPr marL="285840" indent="-285840" defTabSz="914400">
              <a:lnSpc>
                <a:spcPct val="100000"/>
              </a:lnSpc>
              <a:buClr>
                <a:srgbClr val="ff0000"/>
              </a:buClr>
              <a:buFont typeface="Arial"/>
              <a:buChar char="•"/>
            </a:pPr>
            <a:r>
              <a:rPr b="1" lang="en-US" sz="1800" spc="-1" strike="noStrike">
                <a:solidFill>
                  <a:srgbClr val="ff0000"/>
                </a:solidFill>
                <a:latin typeface="Calibri"/>
              </a:rPr>
              <a:t>Eliminates sensor biasing</a:t>
            </a:r>
            <a:endParaRPr b="0" lang="en-IN" sz="1800" spc="-1" strike="noStrike">
              <a:solidFill>
                <a:srgbClr val="000000"/>
              </a:solidFill>
              <a:latin typeface="Arial"/>
            </a:endParaRPr>
          </a:p>
          <a:p>
            <a:pPr marL="285840" indent="-285840" defTabSz="914400">
              <a:lnSpc>
                <a:spcPct val="100000"/>
              </a:lnSpc>
              <a:buClr>
                <a:srgbClr val="ff0000"/>
              </a:buClr>
              <a:buFont typeface="Arial"/>
              <a:buChar char="•"/>
            </a:pPr>
            <a:r>
              <a:rPr b="1" lang="en-US" sz="1800" spc="-1" strike="noStrike">
                <a:solidFill>
                  <a:srgbClr val="ff0000"/>
                </a:solidFill>
                <a:latin typeface="Calibri"/>
              </a:rPr>
              <a:t>Avoids voltage-domain processing</a:t>
            </a:r>
            <a:endParaRPr b="0" lang="en-IN" sz="1800" spc="-1" strike="noStrike">
              <a:solidFill>
                <a:srgbClr val="000000"/>
              </a:solidFill>
              <a:latin typeface="Arial"/>
            </a:endParaRPr>
          </a:p>
          <a:p>
            <a:pPr marL="285840" indent="-285840" defTabSz="914400">
              <a:lnSpc>
                <a:spcPct val="100000"/>
              </a:lnSpc>
              <a:buClr>
                <a:srgbClr val="ff0000"/>
              </a:buClr>
              <a:buFont typeface="Arial"/>
              <a:buChar char="•"/>
            </a:pPr>
            <a:r>
              <a:rPr b="1" lang="en-US" sz="1800" spc="-1" strike="noStrike">
                <a:solidFill>
                  <a:srgbClr val="ff0000"/>
                </a:solidFill>
                <a:latin typeface="Calibri"/>
              </a:rPr>
              <a:t>Improves linearity and robustness.</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94" name="Content Placeholder 15"/>
          <p:cNvGraphicFramePr/>
          <p:nvPr/>
        </p:nvGraphicFramePr>
        <p:xfrm>
          <a:off x="1143000" y="0"/>
          <a:ext cx="8000640" cy="971280"/>
        </p:xfrm>
        <a:graphic>
          <a:graphicData uri="http://schemas.openxmlformats.org/drawingml/2006/table">
            <a:tbl>
              <a:tblPr/>
              <a:tblGrid>
                <a:gridCol w="8001000"/>
              </a:tblGrid>
              <a:tr h="497520">
                <a:tc>
                  <a:txBody>
                    <a:bodyPr lIns="94320" rIns="94320" anchor="t">
                      <a:noAutofit/>
                    </a:bodyPr>
                    <a:p>
                      <a:pPr algn="ctr" defTabSz="1045080">
                        <a:lnSpc>
                          <a:spcPct val="100000"/>
                        </a:lnSpc>
                        <a:tabLst>
                          <a:tab algn="l" pos="0"/>
                        </a:tabLst>
                      </a:pPr>
                      <a:r>
                        <a:rPr b="1" lang="en-US" sz="1400" spc="-1" strike="noStrike">
                          <a:solidFill>
                            <a:schemeClr val="dk1"/>
                          </a:solidFill>
                          <a:latin typeface="Cambria"/>
                          <a:ea typeface="Cambria"/>
                        </a:rPr>
                        <a:t>Company Name</a:t>
                      </a:r>
                      <a:endParaRPr b="0" lang="en-IN" sz="1400" spc="-1" strike="noStrike">
                        <a:solidFill>
                          <a:srgbClr val="000000"/>
                        </a:solidFill>
                        <a:latin typeface="Arial"/>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r>
              <a:tr h="473760">
                <a:tc>
                  <a:txBody>
                    <a:bodyPr lIns="94320" rIns="94320" anchor="t">
                      <a:noAutofit/>
                    </a:bodyPr>
                    <a:p>
                      <a:pPr algn="ctr" defTabSz="914400">
                        <a:lnSpc>
                          <a:spcPct val="100000"/>
                        </a:lnSpc>
                      </a:pPr>
                      <a:r>
                        <a:rPr b="1" lang="en-US" sz="1800" spc="-1" strike="noStrike">
                          <a:solidFill>
                            <a:schemeClr val="dk1"/>
                          </a:solidFill>
                          <a:latin typeface="Calibri"/>
                        </a:rPr>
                        <a:t>PROBLEM IDENTIFICATION &amp; OBJECTIVES</a:t>
                      </a:r>
                      <a:endParaRPr b="0" lang="en-IN" sz="1800" spc="-1" strike="noStrike">
                        <a:solidFill>
                          <a:srgbClr val="000000"/>
                        </a:solidFill>
                        <a:latin typeface="Arial"/>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r>
            </a:tbl>
          </a:graphicData>
        </a:graphic>
      </p:graphicFrame>
      <p:sp>
        <p:nvSpPr>
          <p:cNvPr id="95" name="Frame 4"/>
          <p:cNvSpPr/>
          <p:nvPr/>
        </p:nvSpPr>
        <p:spPr>
          <a:xfrm>
            <a:off x="0" y="0"/>
            <a:ext cx="9143640" cy="5143320"/>
          </a:xfrm>
          <a:prstGeom prst="frame">
            <a:avLst>
              <a:gd name="adj1" fmla="val 1148"/>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96" name="Frame 10"/>
          <p:cNvSpPr/>
          <p:nvPr/>
        </p:nvSpPr>
        <p:spPr>
          <a:xfrm>
            <a:off x="0" y="0"/>
            <a:ext cx="1142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97" name="Frame 9"/>
          <p:cNvSpPr/>
          <p:nvPr/>
        </p:nvSpPr>
        <p:spPr>
          <a:xfrm>
            <a:off x="1143000" y="0"/>
            <a:ext cx="8000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98" name="Picture 2" descr=""/>
          <p:cNvPicPr/>
          <p:nvPr/>
        </p:nvPicPr>
        <p:blipFill>
          <a:blip r:embed="rId1"/>
          <a:stretch/>
        </p:blipFill>
        <p:spPr>
          <a:xfrm>
            <a:off x="0" y="133200"/>
            <a:ext cx="971280" cy="685440"/>
          </a:xfrm>
          <a:prstGeom prst="rect">
            <a:avLst/>
          </a:prstGeom>
          <a:ln w="9525">
            <a:noFill/>
          </a:ln>
        </p:spPr>
      </p:pic>
      <p:graphicFrame>
        <p:nvGraphicFramePr>
          <p:cNvPr id="99" name="Table 5"/>
          <p:cNvGraphicFramePr/>
          <p:nvPr/>
        </p:nvGraphicFramePr>
        <p:xfrm>
          <a:off x="66600" y="478152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F6A867C9-5067-4A7B-9BD6-45E72E846DEF}"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sp>
        <p:nvSpPr>
          <p:cNvPr id="100" name="TextBox 2"/>
          <p:cNvSpPr/>
          <p:nvPr/>
        </p:nvSpPr>
        <p:spPr>
          <a:xfrm>
            <a:off x="0" y="952560"/>
            <a:ext cx="9143640" cy="3107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800" spc="-1" strike="noStrike">
                <a:solidFill>
                  <a:schemeClr val="dk1"/>
                </a:solidFill>
                <a:latin typeface="Calibri"/>
              </a:rPr>
              <a:t> </a:t>
            </a:r>
            <a:r>
              <a:rPr b="1" lang="en-IN" sz="1800" spc="-1" strike="noStrike">
                <a:solidFill>
                  <a:schemeClr val="dk1"/>
                </a:solidFill>
                <a:latin typeface="Calibri"/>
              </a:rPr>
              <a:t>Existing microphone-to-digital conversion systems face the following problems:</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Large Charge Pumps</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MEMS microphones require high bias voltages (10–20 V), implemented using charge pumps that consume significant power and area.</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High-Ohmic Biasing Circuits</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Constant-charge operation requires giga-ohm resistors, creating high-impedance nodes that are sensitive to noise and leakage.</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Multiple Analog Processing</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Poor Scalability and Power Efficiency</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Analog-heavy architectures do not scale well with CMOS technology and are unsuitable for always-on audio systems.</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1" name="Content Placeholder 15"/>
          <p:cNvGraphicFramePr/>
          <p:nvPr/>
        </p:nvGraphicFramePr>
        <p:xfrm>
          <a:off x="1143000" y="0"/>
          <a:ext cx="8000640" cy="894960"/>
        </p:xfrm>
        <a:graphic>
          <a:graphicData uri="http://schemas.openxmlformats.org/drawingml/2006/table">
            <a:tbl>
              <a:tblPr/>
              <a:tblGrid>
                <a:gridCol w="8001000"/>
              </a:tblGrid>
              <a:tr h="458280">
                <a:tc>
                  <a:txBody>
                    <a:bodyPr lIns="94320" rIns="94320" anchor="t">
                      <a:noAutofit/>
                    </a:bodyPr>
                    <a:p>
                      <a:endParaRPr b="1" lang="en-US" sz="1400" spc="-1" strike="noStrike">
                        <a:solidFill>
                          <a:schemeClr val="dk1"/>
                        </a:solidFill>
                        <a:latin typeface="Calibri"/>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r>
              <a:tr h="436680">
                <a:tc>
                  <a:txBody>
                    <a:bodyPr lIns="94320" rIns="94320" anchor="t">
                      <a:noAutofit/>
                    </a:bodyPr>
                    <a:p>
                      <a:pPr algn="ctr" defTabSz="914400">
                        <a:lnSpc>
                          <a:spcPct val="100000"/>
                        </a:lnSpc>
                      </a:pPr>
                      <a:r>
                        <a:rPr b="1" lang="en-US" sz="1800" spc="-1" strike="noStrike">
                          <a:solidFill>
                            <a:schemeClr val="dk1"/>
                          </a:solidFill>
                          <a:latin typeface="Calibri"/>
                        </a:rPr>
                        <a:t>PROPOSED SYSTEM MODEL</a:t>
                      </a:r>
                      <a:endParaRPr b="0" lang="en-IN" sz="1800" spc="-1" strike="noStrike">
                        <a:solidFill>
                          <a:srgbClr val="000000"/>
                        </a:solidFill>
                        <a:latin typeface="Arial"/>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r>
            </a:tbl>
          </a:graphicData>
        </a:graphic>
      </p:graphicFrame>
      <p:sp>
        <p:nvSpPr>
          <p:cNvPr id="102" name="Frame 4"/>
          <p:cNvSpPr/>
          <p:nvPr/>
        </p:nvSpPr>
        <p:spPr>
          <a:xfrm>
            <a:off x="0" y="0"/>
            <a:ext cx="9143640" cy="5143320"/>
          </a:xfrm>
          <a:prstGeom prst="frame">
            <a:avLst>
              <a:gd name="adj1" fmla="val 1148"/>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03" name="Frame 10"/>
          <p:cNvSpPr/>
          <p:nvPr/>
        </p:nvSpPr>
        <p:spPr>
          <a:xfrm>
            <a:off x="0" y="0"/>
            <a:ext cx="1142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04" name="Frame 9"/>
          <p:cNvSpPr/>
          <p:nvPr/>
        </p:nvSpPr>
        <p:spPr>
          <a:xfrm>
            <a:off x="1143000" y="0"/>
            <a:ext cx="8000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105" name="Picture 2" descr=""/>
          <p:cNvPicPr/>
          <p:nvPr/>
        </p:nvPicPr>
        <p:blipFill>
          <a:blip r:embed="rId1"/>
          <a:stretch/>
        </p:blipFill>
        <p:spPr>
          <a:xfrm>
            <a:off x="152280" y="209520"/>
            <a:ext cx="971280" cy="685440"/>
          </a:xfrm>
          <a:prstGeom prst="rect">
            <a:avLst/>
          </a:prstGeom>
          <a:ln w="9525">
            <a:noFill/>
          </a:ln>
        </p:spPr>
      </p:pic>
      <p:graphicFrame>
        <p:nvGraphicFramePr>
          <p:cNvPr id="106" name="Table 5"/>
          <p:cNvGraphicFramePr/>
          <p:nvPr/>
        </p:nvGraphicFramePr>
        <p:xfrm>
          <a:off x="66600" y="478152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D7DD68E3-B7D5-4591-A19E-EA9CD277777D}"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sp>
        <p:nvSpPr>
          <p:cNvPr id="107" name="TextBox 6"/>
          <p:cNvSpPr/>
          <p:nvPr/>
        </p:nvSpPr>
        <p:spPr>
          <a:xfrm>
            <a:off x="152280" y="1047600"/>
            <a:ext cx="8905320" cy="325800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Arial"/>
              <a:buChar char="•"/>
            </a:pPr>
            <a:r>
              <a:rPr b="0" lang="en-US" sz="1600" spc="-1" strike="noStrike">
                <a:solidFill>
                  <a:schemeClr val="dk1"/>
                </a:solidFill>
                <a:latin typeface="Calibri"/>
              </a:rPr>
              <a:t>A constant current source charges an integration capacitor, creating a steadily increasing voltage. This current is generated using a bandgap reference (BGR), which keeps the current stable even when temperature, supply voltage, or process conditions change. This ensures consistent and reliable system operation.</a:t>
            </a:r>
            <a:endParaRPr b="0" lang="en-IN" sz="1600" spc="-1" strike="noStrike">
              <a:solidFill>
                <a:srgbClr val="000000"/>
              </a:solidFill>
              <a:latin typeface="Arial"/>
            </a:endParaRPr>
          </a:p>
          <a:p>
            <a:pPr marL="285840" indent="-285840" defTabSz="914400">
              <a:lnSpc>
                <a:spcPct val="100000"/>
              </a:lnSpc>
              <a:buClr>
                <a:srgbClr val="000000"/>
              </a:buClr>
              <a:buFont typeface="Arial"/>
              <a:buChar char="•"/>
            </a:pPr>
            <a:r>
              <a:rPr b="0" lang="en-US" sz="1600" spc="-1" strike="noStrike">
                <a:solidFill>
                  <a:schemeClr val="dk1"/>
                </a:solidFill>
                <a:latin typeface="Calibri"/>
              </a:rPr>
              <a:t>A switched-capacitor feedback network, which includes the MEMS microphone capacitance, periodically removes charge from the integration capacitor. The amount of charge transferred depends on the microphone capacitance, which varies with sound pressure.</a:t>
            </a:r>
            <a:endParaRPr b="0" lang="en-IN" sz="1600" spc="-1" strike="noStrike">
              <a:solidFill>
                <a:srgbClr val="000000"/>
              </a:solidFill>
              <a:latin typeface="Arial"/>
            </a:endParaRPr>
          </a:p>
          <a:p>
            <a:pPr marL="285840" indent="-285840" defTabSz="914400">
              <a:lnSpc>
                <a:spcPct val="100000"/>
              </a:lnSpc>
              <a:buClr>
                <a:srgbClr val="000000"/>
              </a:buClr>
              <a:buFont typeface="Arial"/>
              <a:buChar char="•"/>
            </a:pPr>
            <a:r>
              <a:rPr b="0" lang="en-US" sz="1600" spc="-1" strike="noStrike">
                <a:solidFill>
                  <a:schemeClr val="dk1"/>
                </a:solidFill>
                <a:latin typeface="Calibri"/>
              </a:rPr>
              <a:t>An operational transconductance amplifier (OTA) monitors the integration node and provides the required gain to maintain stable feedback. The OTA keeps the system operating around a fixed bias point, improving linearity and reducing the effect of circuit nonidealities.</a:t>
            </a:r>
            <a:endParaRPr b="0" lang="en-IN" sz="1600" spc="-1" strike="noStrike">
              <a:solidFill>
                <a:srgbClr val="000000"/>
              </a:solidFill>
              <a:latin typeface="Arial"/>
            </a:endParaRPr>
          </a:p>
          <a:p>
            <a:pPr marL="285840" indent="-285840" defTabSz="914400">
              <a:lnSpc>
                <a:spcPct val="100000"/>
              </a:lnSpc>
              <a:buClr>
                <a:srgbClr val="000000"/>
              </a:buClr>
              <a:buFont typeface="Arial"/>
              <a:buChar char="•"/>
            </a:pPr>
            <a:r>
              <a:rPr b="0" lang="en-US" sz="1600" spc="-1" strike="noStrike">
                <a:solidFill>
                  <a:schemeClr val="dk1"/>
                </a:solidFill>
                <a:latin typeface="Calibri"/>
              </a:rPr>
              <a:t>The feedback loop controls a ring oscillator, whose frequency automatically adjusts to balance the charge added by the current source and the charge removed by the switched-capacitor network. When sound changes the microphone capacitance, the oscillator frequency changes accordingly.</a:t>
            </a:r>
            <a:endParaRPr b="0" lang="en-IN"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8" name="Content Placeholder 15"/>
          <p:cNvGraphicFramePr/>
          <p:nvPr/>
        </p:nvGraphicFramePr>
        <p:xfrm>
          <a:off x="1143000" y="0"/>
          <a:ext cx="8000640" cy="894960"/>
        </p:xfrm>
        <a:graphic>
          <a:graphicData uri="http://schemas.openxmlformats.org/drawingml/2006/table">
            <a:tbl>
              <a:tblPr/>
              <a:tblGrid>
                <a:gridCol w="8001000"/>
              </a:tblGrid>
              <a:tr h="458280">
                <a:tc>
                  <a:txBody>
                    <a:bodyPr lIns="94320" rIns="94320" anchor="t">
                      <a:noAutofit/>
                    </a:bodyPr>
                    <a:p>
                      <a:endParaRPr b="1" lang="en-US" sz="1400" spc="-1" strike="noStrike">
                        <a:solidFill>
                          <a:schemeClr val="dk1"/>
                        </a:solidFill>
                        <a:latin typeface="Calibri"/>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r>
              <a:tr h="436680">
                <a:tc>
                  <a:txBody>
                    <a:bodyPr lIns="94320" rIns="94320" anchor="t">
                      <a:noAutofit/>
                    </a:bodyPr>
                    <a:p>
                      <a:pPr algn="ctr" defTabSz="914400">
                        <a:lnSpc>
                          <a:spcPct val="100000"/>
                        </a:lnSpc>
                      </a:pPr>
                      <a:r>
                        <a:rPr b="1" lang="en-US" sz="1800" spc="-1" strike="noStrike">
                          <a:solidFill>
                            <a:schemeClr val="dk1"/>
                          </a:solidFill>
                          <a:latin typeface="Calibri"/>
                        </a:rPr>
                        <a:t>PROPOSED SYSTEM MODEL</a:t>
                      </a:r>
                      <a:endParaRPr b="0" lang="en-IN" sz="1800" spc="-1" strike="noStrike">
                        <a:solidFill>
                          <a:srgbClr val="000000"/>
                        </a:solidFill>
                        <a:latin typeface="Arial"/>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r>
            </a:tbl>
          </a:graphicData>
        </a:graphic>
      </p:graphicFrame>
      <p:sp>
        <p:nvSpPr>
          <p:cNvPr id="109" name="Frame 4"/>
          <p:cNvSpPr/>
          <p:nvPr/>
        </p:nvSpPr>
        <p:spPr>
          <a:xfrm>
            <a:off x="0" y="0"/>
            <a:ext cx="9143640" cy="5143320"/>
          </a:xfrm>
          <a:prstGeom prst="frame">
            <a:avLst>
              <a:gd name="adj1" fmla="val 1148"/>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10" name="Frame 10"/>
          <p:cNvSpPr/>
          <p:nvPr/>
        </p:nvSpPr>
        <p:spPr>
          <a:xfrm>
            <a:off x="0" y="0"/>
            <a:ext cx="1142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11" name="Frame 9"/>
          <p:cNvSpPr/>
          <p:nvPr/>
        </p:nvSpPr>
        <p:spPr>
          <a:xfrm>
            <a:off x="1143000" y="0"/>
            <a:ext cx="8000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112" name="Picture 2" descr=""/>
          <p:cNvPicPr/>
          <p:nvPr/>
        </p:nvPicPr>
        <p:blipFill>
          <a:blip r:embed="rId1"/>
          <a:stretch/>
        </p:blipFill>
        <p:spPr>
          <a:xfrm>
            <a:off x="152280" y="209520"/>
            <a:ext cx="971280" cy="685440"/>
          </a:xfrm>
          <a:prstGeom prst="rect">
            <a:avLst/>
          </a:prstGeom>
          <a:ln w="9525">
            <a:noFill/>
          </a:ln>
        </p:spPr>
      </p:pic>
      <p:graphicFrame>
        <p:nvGraphicFramePr>
          <p:cNvPr id="113" name="Table 5"/>
          <p:cNvGraphicFramePr/>
          <p:nvPr/>
        </p:nvGraphicFramePr>
        <p:xfrm>
          <a:off x="66600" y="478152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79724D2F-D8D0-4320-B967-918404C818D2}"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pic>
        <p:nvPicPr>
          <p:cNvPr id="114" name="Picture 4" descr=""/>
          <p:cNvPicPr/>
          <p:nvPr/>
        </p:nvPicPr>
        <p:blipFill>
          <a:blip r:embed="rId2"/>
          <a:stretch/>
        </p:blipFill>
        <p:spPr>
          <a:xfrm>
            <a:off x="757080" y="1461240"/>
            <a:ext cx="7695720" cy="3323880"/>
          </a:xfrm>
          <a:prstGeom prst="rect">
            <a:avLst/>
          </a:prstGeom>
          <a:ln w="0">
            <a:noFill/>
          </a:ln>
        </p:spPr>
      </p:pic>
      <p:sp>
        <p:nvSpPr>
          <p:cNvPr id="115" name="TextBox 2"/>
          <p:cNvSpPr/>
          <p:nvPr/>
        </p:nvSpPr>
        <p:spPr>
          <a:xfrm>
            <a:off x="66600" y="971640"/>
            <a:ext cx="9077040" cy="63828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Arial"/>
              <a:buChar char="•"/>
            </a:pPr>
            <a:r>
              <a:rPr b="0" lang="en-US" sz="1800" spc="-1" strike="noStrike">
                <a:solidFill>
                  <a:schemeClr val="dk1"/>
                </a:solidFill>
                <a:latin typeface="Calibri"/>
              </a:rPr>
              <a:t>Schmitt trigger, which removes noise and slow edges by producing sharp logic transitions with hysteresis. This reduces distortion and timing jitter.</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16" name="Content Placeholder 15"/>
          <p:cNvGraphicFramePr/>
          <p:nvPr/>
        </p:nvGraphicFramePr>
        <p:xfrm>
          <a:off x="1143000" y="0"/>
          <a:ext cx="8000640" cy="894960"/>
        </p:xfrm>
        <a:graphic>
          <a:graphicData uri="http://schemas.openxmlformats.org/drawingml/2006/table">
            <a:tbl>
              <a:tblPr/>
              <a:tblGrid>
                <a:gridCol w="8001000"/>
              </a:tblGrid>
              <a:tr h="458280">
                <a:tc>
                  <a:txBody>
                    <a:bodyPr lIns="94320" rIns="94320" anchor="t">
                      <a:noAutofit/>
                    </a:bodyPr>
                    <a:p>
                      <a:endParaRPr b="1" lang="en-US" sz="1400" spc="-1" strike="noStrike">
                        <a:solidFill>
                          <a:schemeClr val="dk1"/>
                        </a:solidFill>
                        <a:latin typeface="Calibri"/>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r>
              <a:tr h="436680">
                <a:tc>
                  <a:txBody>
                    <a:bodyPr lIns="94320" rIns="94320" anchor="t">
                      <a:noAutofit/>
                    </a:bodyPr>
                    <a:p>
                      <a:pPr algn="ctr" defTabSz="914400">
                        <a:lnSpc>
                          <a:spcPct val="100000"/>
                        </a:lnSpc>
                      </a:pPr>
                      <a:r>
                        <a:rPr b="1" lang="en-US" sz="1800" spc="-1" strike="noStrike">
                          <a:solidFill>
                            <a:schemeClr val="dk1"/>
                          </a:solidFill>
                          <a:latin typeface="Calibri"/>
                        </a:rPr>
                        <a:t>SOFTWARE TOOLS</a:t>
                      </a:r>
                      <a:endParaRPr b="0" lang="en-IN" sz="1800" spc="-1" strike="noStrike">
                        <a:solidFill>
                          <a:srgbClr val="000000"/>
                        </a:solidFill>
                        <a:latin typeface="Arial"/>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r>
            </a:tbl>
          </a:graphicData>
        </a:graphic>
      </p:graphicFrame>
      <p:sp>
        <p:nvSpPr>
          <p:cNvPr id="117" name="Frame 4"/>
          <p:cNvSpPr/>
          <p:nvPr/>
        </p:nvSpPr>
        <p:spPr>
          <a:xfrm>
            <a:off x="0" y="0"/>
            <a:ext cx="9143640" cy="5143320"/>
          </a:xfrm>
          <a:prstGeom prst="frame">
            <a:avLst>
              <a:gd name="adj1" fmla="val 1148"/>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18" name="Frame 10"/>
          <p:cNvSpPr/>
          <p:nvPr/>
        </p:nvSpPr>
        <p:spPr>
          <a:xfrm>
            <a:off x="0" y="0"/>
            <a:ext cx="1142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19" name="Frame 9"/>
          <p:cNvSpPr/>
          <p:nvPr/>
        </p:nvSpPr>
        <p:spPr>
          <a:xfrm>
            <a:off x="1143000" y="0"/>
            <a:ext cx="8000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120" name="Picture 2" descr=""/>
          <p:cNvPicPr/>
          <p:nvPr/>
        </p:nvPicPr>
        <p:blipFill>
          <a:blip r:embed="rId1"/>
          <a:stretch/>
        </p:blipFill>
        <p:spPr>
          <a:xfrm>
            <a:off x="228600" y="133200"/>
            <a:ext cx="971280" cy="685440"/>
          </a:xfrm>
          <a:prstGeom prst="rect">
            <a:avLst/>
          </a:prstGeom>
          <a:ln w="9525">
            <a:noFill/>
          </a:ln>
        </p:spPr>
      </p:pic>
      <p:graphicFrame>
        <p:nvGraphicFramePr>
          <p:cNvPr id="121" name="Table 5"/>
          <p:cNvGraphicFramePr/>
          <p:nvPr/>
        </p:nvGraphicFramePr>
        <p:xfrm>
          <a:off x="66600" y="490356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B0590D8E-3DCB-4900-B464-14555D20EDC0}"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sp>
        <p:nvSpPr>
          <p:cNvPr id="122" name="TextBox 2"/>
          <p:cNvSpPr/>
          <p:nvPr/>
        </p:nvSpPr>
        <p:spPr>
          <a:xfrm>
            <a:off x="1965960" y="1886040"/>
            <a:ext cx="5211720" cy="146124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Arial"/>
              <a:buChar char="•"/>
            </a:pPr>
            <a:r>
              <a:rPr b="0" lang="en-IN" sz="1800" spc="-1" strike="noStrike">
                <a:solidFill>
                  <a:schemeClr val="dk1"/>
                </a:solidFill>
                <a:latin typeface="Calibri"/>
              </a:rPr>
              <a:t>Cadence Virtuoso – Circuit schematic and layout design</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Cadence Spectre – Transient and noise analysis</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Layout using cadence</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Pre layout and post layout verification</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3" name="Content Placeholder 15"/>
          <p:cNvGraphicFramePr/>
          <p:nvPr/>
        </p:nvGraphicFramePr>
        <p:xfrm>
          <a:off x="1143000" y="0"/>
          <a:ext cx="8000640" cy="894960"/>
        </p:xfrm>
        <a:graphic>
          <a:graphicData uri="http://schemas.openxmlformats.org/drawingml/2006/table">
            <a:tbl>
              <a:tblPr/>
              <a:tblGrid>
                <a:gridCol w="8001000"/>
              </a:tblGrid>
              <a:tr h="458280">
                <a:tc>
                  <a:txBody>
                    <a:bodyPr lIns="94320" rIns="94320" anchor="t">
                      <a:noAutofit/>
                    </a:bodyPr>
                    <a:p>
                      <a:endParaRPr b="1" lang="en-US" sz="1400" spc="-1" strike="noStrike">
                        <a:solidFill>
                          <a:schemeClr val="dk1"/>
                        </a:solidFill>
                        <a:latin typeface="Cambria"/>
                        <a:ea typeface="Cambria"/>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r>
              <a:tr h="436680">
                <a:tc>
                  <a:txBody>
                    <a:bodyPr lIns="94320" rIns="94320" anchor="t">
                      <a:noAutofit/>
                    </a:bodyPr>
                    <a:p>
                      <a:pPr algn="ctr" defTabSz="914400">
                        <a:lnSpc>
                          <a:spcPct val="100000"/>
                        </a:lnSpc>
                      </a:pPr>
                      <a:r>
                        <a:rPr b="1" lang="en-US" sz="1800" spc="-1" strike="noStrike">
                          <a:solidFill>
                            <a:schemeClr val="dk1"/>
                          </a:solidFill>
                          <a:latin typeface="Times New Roman"/>
                        </a:rPr>
                        <a:t>APPLICATION</a:t>
                      </a:r>
                      <a:endParaRPr b="0" lang="en-IN" sz="1800" spc="-1" strike="noStrike">
                        <a:solidFill>
                          <a:srgbClr val="000000"/>
                        </a:solidFill>
                        <a:latin typeface="Arial"/>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r>
            </a:tbl>
          </a:graphicData>
        </a:graphic>
      </p:graphicFrame>
      <p:sp>
        <p:nvSpPr>
          <p:cNvPr id="124" name="Frame 4"/>
          <p:cNvSpPr/>
          <p:nvPr/>
        </p:nvSpPr>
        <p:spPr>
          <a:xfrm>
            <a:off x="0" y="0"/>
            <a:ext cx="9143640" cy="5143320"/>
          </a:xfrm>
          <a:prstGeom prst="frame">
            <a:avLst>
              <a:gd name="adj1" fmla="val 1148"/>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25" name="Frame 10"/>
          <p:cNvSpPr/>
          <p:nvPr/>
        </p:nvSpPr>
        <p:spPr>
          <a:xfrm>
            <a:off x="0" y="0"/>
            <a:ext cx="1142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26" name="Frame 9"/>
          <p:cNvSpPr/>
          <p:nvPr/>
        </p:nvSpPr>
        <p:spPr>
          <a:xfrm>
            <a:off x="1143000" y="0"/>
            <a:ext cx="8000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127" name="Picture 2" descr=""/>
          <p:cNvPicPr/>
          <p:nvPr/>
        </p:nvPicPr>
        <p:blipFill>
          <a:blip r:embed="rId1"/>
          <a:stretch/>
        </p:blipFill>
        <p:spPr>
          <a:xfrm>
            <a:off x="228600" y="133200"/>
            <a:ext cx="971280" cy="685440"/>
          </a:xfrm>
          <a:prstGeom prst="rect">
            <a:avLst/>
          </a:prstGeom>
          <a:ln w="9525">
            <a:noFill/>
          </a:ln>
        </p:spPr>
      </p:pic>
      <p:graphicFrame>
        <p:nvGraphicFramePr>
          <p:cNvPr id="128" name="Table 5"/>
          <p:cNvGraphicFramePr/>
          <p:nvPr/>
        </p:nvGraphicFramePr>
        <p:xfrm>
          <a:off x="66600" y="478152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635F07BC-C58D-4778-947A-E3EDD56EA7DB}"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sp>
        <p:nvSpPr>
          <p:cNvPr id="129" name="TextBox 2"/>
          <p:cNvSpPr/>
          <p:nvPr/>
        </p:nvSpPr>
        <p:spPr>
          <a:xfrm>
            <a:off x="523800" y="1303560"/>
            <a:ext cx="8076960" cy="283284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Arial"/>
              <a:buChar char="•"/>
            </a:pPr>
            <a:r>
              <a:rPr b="1" lang="en-IN" sz="1800" spc="-1" strike="noStrike">
                <a:solidFill>
                  <a:schemeClr val="dk1"/>
                </a:solidFill>
                <a:latin typeface="Calibri"/>
              </a:rPr>
              <a:t>The proposed CDC is ideally suited for digital MEMS microphones used in:</a:t>
            </a:r>
            <a:endParaRPr b="0" lang="en-IN" sz="1800" spc="-1" strike="noStrike">
              <a:solidFill>
                <a:srgbClr val="000000"/>
              </a:solidFill>
              <a:latin typeface="Arial"/>
            </a:endParaRPr>
          </a:p>
          <a:p>
            <a:pPr defTabSz="914400">
              <a:lnSpc>
                <a:spcPct val="100000"/>
              </a:lnSpc>
            </a:pP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Smart speakers</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Smartphones</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Wireless earbuds</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Hearing aids</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Voice-controlled IoT </a:t>
            </a:r>
            <a:endParaRPr b="0" lang="en-IN" sz="1800" spc="-1" strike="noStrike">
              <a:solidFill>
                <a:srgbClr val="000000"/>
              </a:solidFill>
              <a:latin typeface="Arial"/>
            </a:endParaRPr>
          </a:p>
          <a:p>
            <a:pPr marL="285840" indent="-285840" defTabSz="914400">
              <a:lnSpc>
                <a:spcPct val="100000"/>
              </a:lnSpc>
              <a:buClr>
                <a:srgbClr val="000000"/>
              </a:buClr>
              <a:buFont typeface="Arial"/>
              <a:buChar char="•"/>
            </a:pPr>
            <a:r>
              <a:rPr b="0" lang="en-IN" sz="1800" spc="-1" strike="noStrike">
                <a:solidFill>
                  <a:schemeClr val="dk1"/>
                </a:solidFill>
                <a:latin typeface="Calibri"/>
              </a:rPr>
              <a:t>The elimination of charge pumps and voltage amplifiers makes the architecture highly efficient for low-power audio applications where moderate resolution and robustness are more critical than ultra-high precision.</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0" name="Content Placeholder 15"/>
          <p:cNvGraphicFramePr/>
          <p:nvPr/>
        </p:nvGraphicFramePr>
        <p:xfrm>
          <a:off x="1143000" y="0"/>
          <a:ext cx="8000640" cy="894960"/>
        </p:xfrm>
        <a:graphic>
          <a:graphicData uri="http://schemas.openxmlformats.org/drawingml/2006/table">
            <a:tbl>
              <a:tblPr/>
              <a:tblGrid>
                <a:gridCol w="8001000"/>
              </a:tblGrid>
              <a:tr h="458280">
                <a:tc>
                  <a:txBody>
                    <a:bodyPr lIns="94320" rIns="94320" anchor="t">
                      <a:noAutofit/>
                    </a:bodyPr>
                    <a:p>
                      <a:endParaRPr b="1" lang="en-US" sz="1400" spc="-1" strike="noStrike">
                        <a:solidFill>
                          <a:schemeClr val="dk1"/>
                        </a:solidFill>
                        <a:latin typeface="Cambria"/>
                        <a:ea typeface="Cambria"/>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25200">
                      <a:solidFill>
                        <a:srgbClr val="c0504d"/>
                      </a:solidFill>
                      <a:prstDash val="solid"/>
                    </a:lnB>
                    <a:noFill/>
                  </a:tcPr>
                </a:tc>
              </a:tr>
              <a:tr h="436680">
                <a:tc>
                  <a:txBody>
                    <a:bodyPr lIns="94320" rIns="94320" anchor="t">
                      <a:noAutofit/>
                    </a:bodyPr>
                    <a:p>
                      <a:pPr algn="ctr" defTabSz="914400">
                        <a:lnSpc>
                          <a:spcPct val="100000"/>
                        </a:lnSpc>
                      </a:pPr>
                      <a:r>
                        <a:rPr b="1" lang="en-US" sz="1800" spc="-1" strike="noStrike">
                          <a:solidFill>
                            <a:schemeClr val="dk1"/>
                          </a:solidFill>
                          <a:latin typeface="Times New Roman"/>
                        </a:rPr>
                        <a:t>CONCLUSION</a:t>
                      </a:r>
                      <a:endParaRPr b="0" lang="en-IN" sz="1800" spc="-1" strike="noStrike">
                        <a:solidFill>
                          <a:srgbClr val="000000"/>
                        </a:solidFill>
                        <a:latin typeface="Arial"/>
                      </a:endParaRPr>
                    </a:p>
                  </a:txBody>
                  <a:tcPr anchor="t" marL="94320" marR="94320">
                    <a:lnL w="12240">
                      <a:solidFill>
                        <a:srgbClr val="c0504d"/>
                      </a:solidFill>
                      <a:prstDash val="solid"/>
                    </a:lnL>
                    <a:lnR w="12240">
                      <a:solidFill>
                        <a:srgbClr val="c0504d"/>
                      </a:solidFill>
                      <a:prstDash val="solid"/>
                    </a:lnR>
                    <a:lnT w="12240">
                      <a:solidFill>
                        <a:srgbClr val="c0504d"/>
                      </a:solidFill>
                      <a:prstDash val="solid"/>
                    </a:lnT>
                    <a:lnB w="12240">
                      <a:solidFill>
                        <a:srgbClr val="c0504d"/>
                      </a:solidFill>
                      <a:prstDash val="solid"/>
                    </a:lnB>
                    <a:solidFill>
                      <a:schemeClr val="accent2">
                        <a:alpha val="20000"/>
                      </a:schemeClr>
                    </a:solidFill>
                  </a:tcPr>
                </a:tc>
              </a:tr>
            </a:tbl>
          </a:graphicData>
        </a:graphic>
      </p:graphicFrame>
      <p:sp>
        <p:nvSpPr>
          <p:cNvPr id="131" name="Frame 4"/>
          <p:cNvSpPr/>
          <p:nvPr/>
        </p:nvSpPr>
        <p:spPr>
          <a:xfrm>
            <a:off x="0" y="0"/>
            <a:ext cx="9143640" cy="5143320"/>
          </a:xfrm>
          <a:prstGeom prst="frame">
            <a:avLst>
              <a:gd name="adj1" fmla="val 1148"/>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32" name="Frame 10"/>
          <p:cNvSpPr/>
          <p:nvPr/>
        </p:nvSpPr>
        <p:spPr>
          <a:xfrm>
            <a:off x="0" y="0"/>
            <a:ext cx="1142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33" name="Frame 9"/>
          <p:cNvSpPr/>
          <p:nvPr/>
        </p:nvSpPr>
        <p:spPr>
          <a:xfrm>
            <a:off x="1143000" y="0"/>
            <a:ext cx="8000640" cy="971280"/>
          </a:xfrm>
          <a:prstGeom prst="frame">
            <a:avLst>
              <a:gd name="adj1" fmla="val 2877"/>
            </a:avLst>
          </a:prstGeom>
          <a:gradFill rotWithShape="0">
            <a:gsLst>
              <a:gs pos="0">
                <a:srgbClr val="9c2f2c"/>
              </a:gs>
              <a:gs pos="80000">
                <a:srgbClr val="cb3d39"/>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134" name="Picture 2" descr=""/>
          <p:cNvPicPr/>
          <p:nvPr/>
        </p:nvPicPr>
        <p:blipFill>
          <a:blip r:embed="rId1"/>
          <a:stretch/>
        </p:blipFill>
        <p:spPr>
          <a:xfrm>
            <a:off x="228600" y="133200"/>
            <a:ext cx="971280" cy="685440"/>
          </a:xfrm>
          <a:prstGeom prst="rect">
            <a:avLst/>
          </a:prstGeom>
          <a:ln w="9525">
            <a:noFill/>
          </a:ln>
        </p:spPr>
      </p:pic>
      <p:graphicFrame>
        <p:nvGraphicFramePr>
          <p:cNvPr id="135" name="Table 5"/>
          <p:cNvGraphicFramePr/>
          <p:nvPr/>
        </p:nvGraphicFramePr>
        <p:xfrm>
          <a:off x="66600" y="478152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12302A94-75A3-4131-8948-BE451508AF72}"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sp>
        <p:nvSpPr>
          <p:cNvPr id="136" name="TextBox 2"/>
          <p:cNvSpPr/>
          <p:nvPr/>
        </p:nvSpPr>
        <p:spPr>
          <a:xfrm>
            <a:off x="523800" y="1555920"/>
            <a:ext cx="8076960" cy="2009880"/>
          </a:xfrm>
          <a:prstGeom prst="rect">
            <a:avLst/>
          </a:prstGeom>
          <a:noFill/>
          <a:ln w="0">
            <a:noFill/>
          </a:ln>
        </p:spPr>
        <p:style>
          <a:lnRef idx="0"/>
          <a:fillRef idx="0"/>
          <a:effectRef idx="0"/>
          <a:fontRef idx="minor"/>
        </p:style>
        <p:txBody>
          <a:bodyPr lIns="90000" rIns="90000" tIns="45000" bIns="45000" anchor="t">
            <a:spAutoFit/>
          </a:bodyPr>
          <a:p>
            <a:pPr marL="285840" indent="-285840" algn="just" defTabSz="914400">
              <a:lnSpc>
                <a:spcPct val="100000"/>
              </a:lnSpc>
              <a:buClr>
                <a:srgbClr val="000000"/>
              </a:buClr>
              <a:buFont typeface="Arial"/>
              <a:buChar char="•"/>
            </a:pPr>
            <a:r>
              <a:rPr b="0" lang="en-US" sz="1800" spc="-1" strike="noStrike">
                <a:solidFill>
                  <a:schemeClr val="dk1"/>
                </a:solidFill>
                <a:latin typeface="Calibri"/>
              </a:rPr>
              <a:t>This project presents a time-encoded capacitance-to-digital converter as an efficient solution for microphone-to-digital signal conversion. By eliminating large charge pumps, high-ohmic biasing circuits, and voltage-domain processing, the proposed CDC significantly reduces power consumption, silicon area, and design complexity. The switched-capacitor feedback mechanism improves linearity and robustness, making the architecture well suited for low-power, always-on audio and human–machine interface applications.</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p:nvPr>
        </p:nvSpPr>
        <p:spPr>
          <a:xfrm>
            <a:off x="457200" y="1200240"/>
            <a:ext cx="8229240" cy="3394080"/>
          </a:xfrm>
          <a:prstGeom prst="rect">
            <a:avLst/>
          </a:prstGeom>
          <a:noFill/>
          <a:ln w="0">
            <a:noFill/>
          </a:ln>
        </p:spPr>
        <p:txBody>
          <a:bodyPr lIns="91440" rIns="91440" tIns="45720" bIns="45720" anchor="t">
            <a:noAutofit/>
          </a:bodyPr>
          <a:p>
            <a:pPr marL="343080" indent="-343080" algn="ctr" defTabSz="914400">
              <a:lnSpc>
                <a:spcPct val="100000"/>
              </a:lnSpc>
              <a:spcBef>
                <a:spcPts val="641"/>
              </a:spcBef>
              <a:buClr>
                <a:srgbClr val="c00000"/>
              </a:buClr>
              <a:buFont typeface="Arial"/>
              <a:buChar char="•"/>
            </a:pPr>
            <a:r>
              <a:rPr b="0" lang="en-US" sz="3200" spc="-1" strike="noStrike">
                <a:solidFill>
                  <a:srgbClr val="c00000"/>
                </a:solidFill>
                <a:latin typeface="Calibri"/>
              </a:rPr>
              <a:t>Queries ??</a:t>
            </a:r>
            <a:endParaRPr b="0" lang="en-US" sz="3200" spc="-1" strike="noStrike">
              <a:solidFill>
                <a:schemeClr val="dk1"/>
              </a:solidFill>
              <a:latin typeface="Calibri"/>
            </a:endParaRPr>
          </a:p>
        </p:txBody>
      </p:sp>
      <p:sp>
        <p:nvSpPr>
          <p:cNvPr id="138" name="Frame 10"/>
          <p:cNvSpPr/>
          <p:nvPr/>
        </p:nvSpPr>
        <p:spPr>
          <a:xfrm>
            <a:off x="0" y="0"/>
            <a:ext cx="9143640" cy="5143320"/>
          </a:xfrm>
          <a:prstGeom prst="frame">
            <a:avLst>
              <a:gd name="adj1" fmla="val 1791"/>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graphicFrame>
        <p:nvGraphicFramePr>
          <p:cNvPr id="139" name="Table 5"/>
          <p:cNvGraphicFramePr/>
          <p:nvPr/>
        </p:nvGraphicFramePr>
        <p:xfrm>
          <a:off x="66600" y="478152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20CB7BAD-878A-489C-9B23-AD1BD500382D}"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Frame 10"/>
          <p:cNvSpPr/>
          <p:nvPr/>
        </p:nvSpPr>
        <p:spPr>
          <a:xfrm>
            <a:off x="0" y="0"/>
            <a:ext cx="9143640" cy="5143320"/>
          </a:xfrm>
          <a:prstGeom prst="frame">
            <a:avLst>
              <a:gd name="adj1" fmla="val 1791"/>
            </a:avLst>
          </a:prstGeom>
          <a:gradFill rotWithShape="0">
            <a:gsLst>
              <a:gs pos="0">
                <a:srgbClr val="9c2f2c"/>
              </a:gs>
              <a:gs pos="80000">
                <a:srgbClr val="cb3d39"/>
              </a:gs>
              <a:gs pos="100000">
                <a:srgbClr val="ce3a36"/>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141" name="Picture 2" descr="thank you, etiquette, business etiquette, etiquette expert, book, conference, speaker, Julie Blais Comeau, conférence, étiquette, étiquette professionnelle, training, formation, étiquette des affaires, livre"/>
          <p:cNvPicPr/>
          <p:nvPr/>
        </p:nvPicPr>
        <p:blipFill>
          <a:blip r:embed="rId1"/>
          <a:stretch/>
        </p:blipFill>
        <p:spPr>
          <a:xfrm>
            <a:off x="2666880" y="1657440"/>
            <a:ext cx="4236840" cy="2437920"/>
          </a:xfrm>
          <a:prstGeom prst="rect">
            <a:avLst/>
          </a:prstGeom>
          <a:ln w="0">
            <a:noFill/>
          </a:ln>
        </p:spPr>
      </p:pic>
      <p:graphicFrame>
        <p:nvGraphicFramePr>
          <p:cNvPr id="142" name="Table 5"/>
          <p:cNvGraphicFramePr/>
          <p:nvPr/>
        </p:nvGraphicFramePr>
        <p:xfrm>
          <a:off x="66600" y="4903560"/>
          <a:ext cx="8991360" cy="239760"/>
        </p:xfrm>
        <a:graphic>
          <a:graphicData uri="http://schemas.openxmlformats.org/drawingml/2006/table">
            <a:tbl>
              <a:tblPr/>
              <a:tblGrid>
                <a:gridCol w="2057400"/>
                <a:gridCol w="1042920"/>
                <a:gridCol w="2170080"/>
                <a:gridCol w="929880"/>
                <a:gridCol w="1571040"/>
                <a:gridCol w="1218960"/>
              </a:tblGrid>
              <a:tr h="228600">
                <a:tc>
                  <a:txBody>
                    <a:bodyPr lIns="94320" rIns="94320" anchor="t">
                      <a:noAutofit/>
                    </a:bodyPr>
                    <a:p>
                      <a:pPr algn="ctr" defTabSz="914400">
                        <a:lnSpc>
                          <a:spcPct val="100000"/>
                        </a:lnSpc>
                      </a:pPr>
                      <a:r>
                        <a:rPr b="1" lang="en-US" sz="1050" spc="-1" strike="noStrike">
                          <a:solidFill>
                            <a:schemeClr val="lt1"/>
                          </a:solidFill>
                          <a:latin typeface="Calibri"/>
                        </a:rPr>
                        <a:t>Chennai Institute of Technology</a:t>
                      </a:r>
                      <a:endParaRPr b="0" lang="en-IN" sz="1050" spc="-1" strike="noStrike">
                        <a:solidFill>
                          <a:srgbClr val="000000"/>
                        </a:solidFill>
                        <a:latin typeface="Arial"/>
                      </a:endParaRPr>
                    </a:p>
                  </a:txBody>
                  <a:tcPr anchor="t" marL="94320" marR="94320">
                    <a:lnL w="9360">
                      <a:solidFill>
                        <a:srgbClr val="debcbb"/>
                      </a:solidFill>
                      <a:prstDash val="solid"/>
                    </a:lnL>
                    <a:lnR>
                      <a:noFill/>
                    </a:lnR>
                    <a:lnT w="9360">
                      <a:no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ECE</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Core course project</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Calibri"/>
                        </a:rPr>
                        <a:t>Review</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r>
                        <a:rPr b="1" lang="en-US" sz="1050" spc="-1" strike="noStrike">
                          <a:solidFill>
                            <a:schemeClr val="lt1"/>
                          </a:solidFill>
                          <a:latin typeface="Times New Roman"/>
                        </a:rPr>
                        <a:t>8/1/2026</a:t>
                      </a:r>
                      <a:endParaRPr b="0" lang="en-IN" sz="1050" spc="-1" strike="noStrike">
                        <a:solidFill>
                          <a:srgbClr val="000000"/>
                        </a:solidFill>
                        <a:latin typeface="Arial"/>
                      </a:endParaRPr>
                    </a:p>
                  </a:txBody>
                  <a:tcPr anchor="t" marL="94320" marR="94320">
                    <a:lnL>
                      <a:noFill/>
                    </a:lnL>
                    <a:lnR>
                      <a:noFill/>
                    </a:lnR>
                    <a:lnT w="9360">
                      <a:solidFill>
                        <a:srgbClr val="debcbb"/>
                      </a:solidFill>
                      <a:prstDash val="solid"/>
                    </a:lnT>
                    <a:lnB w="38160">
                      <a:solidFill>
                        <a:srgbClr val="ffffff"/>
                      </a:solidFill>
                      <a:prstDash val="solid"/>
                    </a:lnB>
                    <a:solidFill>
                      <a:srgbClr val="cb3d39"/>
                    </a:solidFill>
                  </a:tcPr>
                </a:tc>
                <a:tc>
                  <a:txBody>
                    <a:bodyPr lIns="94320" rIns="94320" anchor="t">
                      <a:noAutofit/>
                    </a:bodyPr>
                    <a:p>
                      <a:pPr algn="ctr" defTabSz="1306080">
                        <a:lnSpc>
                          <a:spcPct val="100000"/>
                        </a:lnSpc>
                        <a:tabLst>
                          <a:tab algn="l" pos="0"/>
                        </a:tabLst>
                      </a:pPr>
                      <a:fld id="{2CF3D95B-CBF2-4346-81F3-3C178F9F500B}" type="slidenum">
                        <a:rPr b="1" lang="en-US" sz="1050" spc="-1" strike="noStrike">
                          <a:solidFill>
                            <a:schemeClr val="lt1"/>
                          </a:solidFill>
                          <a:latin typeface="Calibri"/>
                        </a:rPr>
                        <a:t>&lt;number&gt;</a:t>
                      </a:fld>
                      <a:endParaRPr b="0" lang="en-IN" sz="1050" spc="-1" strike="noStrike">
                        <a:solidFill>
                          <a:srgbClr val="000000"/>
                        </a:solidFill>
                        <a:latin typeface="Arial"/>
                      </a:endParaRPr>
                    </a:p>
                  </a:txBody>
                  <a:tcPr anchor="t" marL="94320" marR="94320">
                    <a:lnL>
                      <a:noFill/>
                    </a:lnL>
                    <a:lnR w="9360">
                      <a:solidFill>
                        <a:srgbClr val="debcbb"/>
                      </a:solidFill>
                      <a:prstDash val="solid"/>
                    </a:lnR>
                    <a:lnT w="9360">
                      <a:noFill/>
                      <a:prstDash val="solid"/>
                    </a:lnT>
                    <a:lnB w="38160">
                      <a:noFill/>
                      <a:prstDash val="solid"/>
                    </a:lnB>
                    <a:solidFill>
                      <a:srgbClr val="cb3d39"/>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254</TotalTime>
  <Application>PPT_Plus/1.0.0.0$Windows_X86_64 LibreOffice_project/</Application>
  <AppVersion>15.0000</AppVersion>
  <Words>874</Words>
  <Paragraphs>135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2006-08-10T12:00:00Z</dcterms:created>
  <dc:creator>RAJA</dc:creator>
  <dc:description/>
  <dc:language>en-IN</dc:language>
  <cp:lastModifiedBy/>
  <dcterms:modified xsi:type="dcterms:W3CDTF">2026-01-08T08:08:01Z</dcterms:modified>
  <cp:revision>27</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c14087d32b64439f8be0fb77d9797412</vt:lpwstr>
  </property>
  <property fmtid="{D5CDD505-2E9C-101B-9397-08002B2CF9AE}" pid="3" name="PresentationFormat">
    <vt:lpwstr>On-screen Show (16:9)</vt:lpwstr>
  </property>
  <property fmtid="{D5CDD505-2E9C-101B-9397-08002B2CF9AE}" pid="4" name="Slides">
    <vt:i4>12</vt:i4>
  </property>
</Properties>
</file>